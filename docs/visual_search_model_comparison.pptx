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Top-1 Accuracy</c:v>
                </c:pt>
              </c:strCache>
            </c:strRef>
          </c:tx>
          <c:spPr>
            <a:solidFill>
              <a:srgbClr val="3B82F6"/>
            </a:solidFill>
            <a:effectLst/>
          </c:spPr>
          <c:invertIfNegative val="0"/>
          <c:dLbls>
            <c:numFmt formatCode="0.0%" sourceLinked="0"/>
            <c:spPr>
              <a:noFill/>
              <a:ln>
                <a:noFill/>
              </a:ln>
              <a:effectLst/>
            </c:spPr>
            <c:txPr>
              <a:bodyPr/>
              <a:lstStyle/>
              <a:p>
                <a:pPr>
                  <a:defRPr sz="1000" b="0" i="0" u="none" strike="noStrike">
                    <a:solidFill>
                      <a:srgbClr val="37415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YOLO-World</c:v>
                </c:pt>
                <c:pt idx="1">
                  <c:v>CLIP ViT-B/32</c:v>
                </c:pt>
                <c:pt idx="2">
                  <c:v>OpenCLIP ViT-B/32</c:v>
                </c:pt>
                <c:pt idx="3">
                  <c:v>SigLIP Base</c:v>
                </c:pt>
                <c:pt idx="4">
                  <c:v>DINOv2 Base</c:v>
                </c:pt>
              </c:strCache>
            </c:strRef>
          </c:cat>
          <c:val>
            <c:numRef>
              <c:f>Sheet1!$B$2:$B$6</c:f>
              <c:numCache>
                <c:formatCode>General</c:formatCode>
                <c:ptCount val="5"/>
                <c:pt idx="0">
                  <c:v>0.52</c:v>
                </c:pt>
                <c:pt idx="1">
                  <c:v>0.92500000000000004</c:v>
                </c:pt>
                <c:pt idx="2">
                  <c:v>0.93469999999999998</c:v>
                </c:pt>
                <c:pt idx="3">
                  <c:v>0.9395</c:v>
                </c:pt>
                <c:pt idx="4">
                  <c:v>0.9395</c:v>
                </c:pt>
              </c:numCache>
            </c:numRef>
          </c:val>
          <c:extLst>
            <c:ext xmlns:c16="http://schemas.microsoft.com/office/drawing/2014/chart" uri="{C3380CC4-5D6E-409C-BE32-E72D297353CC}">
              <c16:uniqueId val="{00000000-5A6F-4519-8AE1-BFDA7A21951D}"/>
            </c:ext>
          </c:extLst>
        </c:ser>
        <c:ser>
          <c:idx val="1"/>
          <c:order val="1"/>
          <c:tx>
            <c:strRef>
              <c:f>Sheet1!$C$1</c:f>
              <c:strCache>
                <c:ptCount val="1"/>
                <c:pt idx="0">
                  <c:v>Top-3 Accuracy</c:v>
                </c:pt>
              </c:strCache>
            </c:strRef>
          </c:tx>
          <c:spPr>
            <a:solidFill>
              <a:srgbClr val="16A34A"/>
            </a:solidFill>
            <a:effectLst/>
          </c:spPr>
          <c:invertIfNegative val="0"/>
          <c:dLbls>
            <c:numFmt formatCode="0.0%" sourceLinked="0"/>
            <c:spPr>
              <a:noFill/>
              <a:ln>
                <a:noFill/>
              </a:ln>
              <a:effectLst/>
            </c:spPr>
            <c:txPr>
              <a:bodyPr/>
              <a:lstStyle/>
              <a:p>
                <a:pPr>
                  <a:defRPr sz="1000" b="0" i="0" u="none" strike="noStrike">
                    <a:solidFill>
                      <a:srgbClr val="37415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YOLO-World</c:v>
                </c:pt>
                <c:pt idx="1">
                  <c:v>CLIP ViT-B/32</c:v>
                </c:pt>
                <c:pt idx="2">
                  <c:v>OpenCLIP ViT-B/32</c:v>
                </c:pt>
                <c:pt idx="3">
                  <c:v>SigLIP Base</c:v>
                </c:pt>
                <c:pt idx="4">
                  <c:v>DINOv2 Base</c:v>
                </c:pt>
              </c:strCache>
            </c:strRef>
          </c:cat>
          <c:val>
            <c:numRef>
              <c:f>Sheet1!$C$2:$C$6</c:f>
              <c:numCache>
                <c:formatCode>General</c:formatCode>
                <c:ptCount val="5"/>
                <c:pt idx="0">
                  <c:v>0.62880000000000003</c:v>
                </c:pt>
                <c:pt idx="1">
                  <c:v>0.99029999999999996</c:v>
                </c:pt>
                <c:pt idx="2">
                  <c:v>0.99399999999999999</c:v>
                </c:pt>
                <c:pt idx="3">
                  <c:v>0.99519999999999997</c:v>
                </c:pt>
                <c:pt idx="4">
                  <c:v>0.99399999999999999</c:v>
                </c:pt>
              </c:numCache>
            </c:numRef>
          </c:val>
          <c:extLst>
            <c:ext xmlns:c16="http://schemas.microsoft.com/office/drawing/2014/chart" uri="{C3380CC4-5D6E-409C-BE32-E72D297353CC}">
              <c16:uniqueId val="{00000001-5A6F-4519-8AE1-BFDA7A21951D}"/>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374151"/>
                </a:solidFill>
                <a:latin typeface="Arial"/>
              </a:defRPr>
            </a:pPr>
            <a:endParaRPr lang="en-US"/>
          </a:p>
        </c:txPr>
        <c:crossAx val="2094734552"/>
        <c:crosses val="autoZero"/>
        <c:auto val="1"/>
        <c:lblAlgn val="ctr"/>
        <c:lblOffset val="100"/>
        <c:noMultiLvlLbl val="1"/>
      </c:catAx>
      <c:valAx>
        <c:axId val="2094734552"/>
        <c:scaling>
          <c:orientation val="minMax"/>
          <c:max val="1.05"/>
          <c:min val="0"/>
        </c:scaling>
        <c:delete val="0"/>
        <c:axPos val="b"/>
        <c:majorGridlines>
          <c:spPr>
            <a:ln w="9525" cap="flat">
              <a:solidFill>
                <a:srgbClr val="E5E7EB"/>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374151"/>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A1F44"/>
                </a:solidFill>
                <a:latin typeface="Arial"/>
              </a:defRPr>
            </a:pPr>
            <a:r>
              <a:rPr lang="en-US" sz="1300" b="0" i="0" u="none" strike="noStrike">
                <a:solidFill>
                  <a:srgbClr val="0A1F44"/>
                </a:solidFill>
                <a:latin typeface="Arial"/>
              </a:rPr>
              <a:t>Inference Time (ms / image)</a:t>
            </a:r>
          </a:p>
        </c:rich>
      </c:tx>
      <c:overlay val="0"/>
    </c:title>
    <c:autoTitleDeleted val="0"/>
    <c:plotArea>
      <c:layout/>
      <c:barChart>
        <c:barDir val="bar"/>
        <c:grouping val="clustered"/>
        <c:varyColors val="0"/>
        <c:ser>
          <c:idx val="0"/>
          <c:order val="0"/>
          <c:tx>
            <c:strRef>
              <c:f>Sheet1!$B$1</c:f>
              <c:strCache>
                <c:ptCount val="1"/>
                <c:pt idx="0">
                  <c:v>ms per image</c:v>
                </c:pt>
              </c:strCache>
            </c:strRef>
          </c:tx>
          <c:spPr>
            <a:solidFill>
              <a:srgbClr val="D97706"/>
            </a:solidFill>
            <a:effectLst/>
          </c:spPr>
          <c:invertIfNegative val="0"/>
          <c:dLbls>
            <c:numFmt formatCode="0.0" sourceLinked="0"/>
            <c:spPr>
              <a:noFill/>
              <a:ln>
                <a:noFill/>
              </a:ln>
              <a:effectLst/>
            </c:spPr>
            <c:txPr>
              <a:bodyPr/>
              <a:lstStyle/>
              <a:p>
                <a:pPr>
                  <a:defRPr sz="1000" b="0" i="0" u="none" strike="noStrike">
                    <a:solidFill>
                      <a:srgbClr val="37415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CLIP ViT-B/32</c:v>
                </c:pt>
                <c:pt idx="1">
                  <c:v>OpenCLIP ViT-B/32</c:v>
                </c:pt>
                <c:pt idx="2">
                  <c:v>SigLIP Base</c:v>
                </c:pt>
                <c:pt idx="3">
                  <c:v>YOLO-World</c:v>
                </c:pt>
                <c:pt idx="4">
                  <c:v>DINOv2 Base</c:v>
                </c:pt>
              </c:strCache>
            </c:strRef>
          </c:cat>
          <c:val>
            <c:numRef>
              <c:f>Sheet1!$B$2:$B$6</c:f>
              <c:numCache>
                <c:formatCode>General</c:formatCode>
                <c:ptCount val="5"/>
                <c:pt idx="0">
                  <c:v>5.3</c:v>
                </c:pt>
                <c:pt idx="1">
                  <c:v>5.33</c:v>
                </c:pt>
                <c:pt idx="2">
                  <c:v>14.24</c:v>
                </c:pt>
                <c:pt idx="3">
                  <c:v>14.48</c:v>
                </c:pt>
                <c:pt idx="4">
                  <c:v>18.13</c:v>
                </c:pt>
              </c:numCache>
            </c:numRef>
          </c:val>
          <c:extLst>
            <c:ext xmlns:c16="http://schemas.microsoft.com/office/drawing/2014/chart" uri="{C3380CC4-5D6E-409C-BE32-E72D297353CC}">
              <c16:uniqueId val="{00000000-B7F0-4AC1-A9AA-EBAD9E1F82CE}"/>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37415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A1F44"/>
                </a:solidFill>
                <a:latin typeface="Arial"/>
              </a:defRPr>
            </a:pPr>
            <a:r>
              <a:rPr lang="en-US" sz="1300" b="0" i="0" u="none" strike="noStrike">
                <a:solidFill>
                  <a:srgbClr val="0A1F44"/>
                </a:solidFill>
                <a:latin typeface="Arial"/>
              </a:rPr>
              <a:t>Model Size (MB)</a:t>
            </a:r>
          </a:p>
        </c:rich>
      </c:tx>
      <c:overlay val="0"/>
    </c:title>
    <c:autoTitleDeleted val="0"/>
    <c:plotArea>
      <c:layout/>
      <c:barChart>
        <c:barDir val="bar"/>
        <c:grouping val="clustered"/>
        <c:varyColors val="0"/>
        <c:ser>
          <c:idx val="0"/>
          <c:order val="0"/>
          <c:tx>
            <c:strRef>
              <c:f>Sheet1!$B$1</c:f>
              <c:strCache>
                <c:ptCount val="1"/>
                <c:pt idx="0">
                  <c:v>Model size (MB)</c:v>
                </c:pt>
              </c:strCache>
            </c:strRef>
          </c:tx>
          <c:spPr>
            <a:solidFill>
              <a:srgbClr val="2B6CB0"/>
            </a:solidFill>
            <a:effectLst/>
          </c:spPr>
          <c:invertIfNegative val="0"/>
          <c:dLbls>
            <c:numFmt formatCode="0" sourceLinked="0"/>
            <c:spPr>
              <a:noFill/>
              <a:ln>
                <a:noFill/>
              </a:ln>
              <a:effectLst/>
            </c:spPr>
            <c:txPr>
              <a:bodyPr/>
              <a:lstStyle/>
              <a:p>
                <a:pPr>
                  <a:defRPr sz="1000" b="0" i="0" u="none" strike="noStrike">
                    <a:solidFill>
                      <a:srgbClr val="37415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YOLO-World</c:v>
                </c:pt>
                <c:pt idx="1">
                  <c:v>DINOv2 Base</c:v>
                </c:pt>
                <c:pt idx="2">
                  <c:v>OpenCLIP ViT-B/32</c:v>
                </c:pt>
                <c:pt idx="3">
                  <c:v>CLIP ViT-B/32</c:v>
                </c:pt>
                <c:pt idx="4">
                  <c:v>SigLIP Base</c:v>
                </c:pt>
              </c:strCache>
            </c:strRef>
          </c:cat>
          <c:val>
            <c:numRef>
              <c:f>Sheet1!$B$2:$B$6</c:f>
              <c:numCache>
                <c:formatCode>General</c:formatCode>
                <c:ptCount val="5"/>
                <c:pt idx="0">
                  <c:v>48.9</c:v>
                </c:pt>
                <c:pt idx="1">
                  <c:v>330.36</c:v>
                </c:pt>
                <c:pt idx="2">
                  <c:v>577.23</c:v>
                </c:pt>
                <c:pt idx="3">
                  <c:v>577.23</c:v>
                </c:pt>
                <c:pt idx="4">
                  <c:v>775.13</c:v>
                </c:pt>
              </c:numCache>
            </c:numRef>
          </c:val>
          <c:extLst>
            <c:ext xmlns:c16="http://schemas.microsoft.com/office/drawing/2014/chart" uri="{C3380CC4-5D6E-409C-BE32-E72D297353CC}">
              <c16:uniqueId val="{00000000-A926-4325-9695-98B56ACBED40}"/>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37415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SigLIP Base</c:v>
                </c:pt>
              </c:strCache>
            </c:strRef>
          </c:tx>
          <c:spPr>
            <a:solidFill>
              <a:srgbClr val="3B82F6"/>
            </a:solidFill>
            <a:effectLst/>
          </c:spPr>
          <c:invertIfNegative val="0"/>
          <c:cat>
            <c:strRef>
              <c:f>Sheet1!$A$2:$A$5</c:f>
              <c:strCache>
                <c:ptCount val="4"/>
                <c:pt idx="0">
                  <c:v>T4</c:v>
                </c:pt>
                <c:pt idx="1">
                  <c:v>L40S</c:v>
                </c:pt>
                <c:pt idx="2">
                  <c:v>A100 80GB</c:v>
                </c:pt>
                <c:pt idx="3">
                  <c:v>H100</c:v>
                </c:pt>
              </c:strCache>
            </c:strRef>
          </c:cat>
          <c:val>
            <c:numRef>
              <c:f>Sheet1!$B$2:$B$5</c:f>
              <c:numCache>
                <c:formatCode>General</c:formatCode>
                <c:ptCount val="4"/>
                <c:pt idx="0">
                  <c:v>3.2000000000000002E-3</c:v>
                </c:pt>
                <c:pt idx="1">
                  <c:v>1.3899999999999999E-2</c:v>
                </c:pt>
                <c:pt idx="2">
                  <c:v>1.9900000000000001E-2</c:v>
                </c:pt>
                <c:pt idx="3">
                  <c:v>2.1700000000000001E-2</c:v>
                </c:pt>
              </c:numCache>
            </c:numRef>
          </c:val>
          <c:extLst>
            <c:ext xmlns:c16="http://schemas.microsoft.com/office/drawing/2014/chart" uri="{C3380CC4-5D6E-409C-BE32-E72D297353CC}">
              <c16:uniqueId val="{00000000-FE2D-4721-9143-7FAFCAD9A223}"/>
            </c:ext>
          </c:extLst>
        </c:ser>
        <c:ser>
          <c:idx val="1"/>
          <c:order val="1"/>
          <c:tx>
            <c:strRef>
              <c:f>Sheet1!$C$1</c:f>
              <c:strCache>
                <c:ptCount val="1"/>
                <c:pt idx="0">
                  <c:v>DINOv2 Base</c:v>
                </c:pt>
              </c:strCache>
            </c:strRef>
          </c:tx>
          <c:spPr>
            <a:solidFill>
              <a:srgbClr val="60A5FA"/>
            </a:solidFill>
            <a:effectLst/>
          </c:spPr>
          <c:invertIfNegative val="0"/>
          <c:cat>
            <c:strRef>
              <c:f>Sheet1!$A$2:$A$5</c:f>
              <c:strCache>
                <c:ptCount val="4"/>
                <c:pt idx="0">
                  <c:v>T4</c:v>
                </c:pt>
                <c:pt idx="1">
                  <c:v>L40S</c:v>
                </c:pt>
                <c:pt idx="2">
                  <c:v>A100 80GB</c:v>
                </c:pt>
                <c:pt idx="3">
                  <c:v>H100</c:v>
                </c:pt>
              </c:strCache>
            </c:strRef>
          </c:cat>
          <c:val>
            <c:numRef>
              <c:f>Sheet1!$C$2:$C$5</c:f>
              <c:numCache>
                <c:formatCode>General</c:formatCode>
                <c:ptCount val="4"/>
                <c:pt idx="0">
                  <c:v>4.1000000000000003E-3</c:v>
                </c:pt>
                <c:pt idx="1">
                  <c:v>1.77E-2</c:v>
                </c:pt>
                <c:pt idx="2">
                  <c:v>2.5399999999999999E-2</c:v>
                </c:pt>
                <c:pt idx="3">
                  <c:v>2.76E-2</c:v>
                </c:pt>
              </c:numCache>
            </c:numRef>
          </c:val>
          <c:extLst>
            <c:ext xmlns:c16="http://schemas.microsoft.com/office/drawing/2014/chart" uri="{C3380CC4-5D6E-409C-BE32-E72D297353CC}">
              <c16:uniqueId val="{00000001-FE2D-4721-9143-7FAFCAD9A223}"/>
            </c:ext>
          </c:extLst>
        </c:ser>
        <c:ser>
          <c:idx val="2"/>
          <c:order val="2"/>
          <c:tx>
            <c:strRef>
              <c:f>Sheet1!$D$1</c:f>
              <c:strCache>
                <c:ptCount val="1"/>
                <c:pt idx="0">
                  <c:v>OpenCLIP ViT-B/32</c:v>
                </c:pt>
              </c:strCache>
            </c:strRef>
          </c:tx>
          <c:spPr>
            <a:solidFill>
              <a:srgbClr val="16A34A"/>
            </a:solidFill>
            <a:effectLst/>
          </c:spPr>
          <c:invertIfNegative val="0"/>
          <c:cat>
            <c:strRef>
              <c:f>Sheet1!$A$2:$A$5</c:f>
              <c:strCache>
                <c:ptCount val="4"/>
                <c:pt idx="0">
                  <c:v>T4</c:v>
                </c:pt>
                <c:pt idx="1">
                  <c:v>L40S</c:v>
                </c:pt>
                <c:pt idx="2">
                  <c:v>A100 80GB</c:v>
                </c:pt>
                <c:pt idx="3">
                  <c:v>H100</c:v>
                </c:pt>
              </c:strCache>
            </c:strRef>
          </c:cat>
          <c:val>
            <c:numRef>
              <c:f>Sheet1!$D$2:$D$5</c:f>
              <c:numCache>
                <c:formatCode>General</c:formatCode>
                <c:ptCount val="4"/>
                <c:pt idx="0">
                  <c:v>1.1999999999999999E-3</c:v>
                </c:pt>
                <c:pt idx="1">
                  <c:v>5.1999999999999998E-3</c:v>
                </c:pt>
                <c:pt idx="2">
                  <c:v>7.4999999999999997E-3</c:v>
                </c:pt>
                <c:pt idx="3">
                  <c:v>8.0999999999999996E-3</c:v>
                </c:pt>
              </c:numCache>
            </c:numRef>
          </c:val>
          <c:extLst>
            <c:ext xmlns:c16="http://schemas.microsoft.com/office/drawing/2014/chart" uri="{C3380CC4-5D6E-409C-BE32-E72D297353CC}">
              <c16:uniqueId val="{00000002-FE2D-4721-9143-7FAFCAD9A223}"/>
            </c:ext>
          </c:extLst>
        </c:ser>
        <c:ser>
          <c:idx val="3"/>
          <c:order val="3"/>
          <c:tx>
            <c:strRef>
              <c:f>Sheet1!$E$1</c:f>
              <c:strCache>
                <c:ptCount val="1"/>
                <c:pt idx="0">
                  <c:v>CLIP ViT-B/32</c:v>
                </c:pt>
              </c:strCache>
            </c:strRef>
          </c:tx>
          <c:spPr>
            <a:solidFill>
              <a:srgbClr val="D97706"/>
            </a:solidFill>
            <a:effectLst/>
          </c:spPr>
          <c:invertIfNegative val="0"/>
          <c:cat>
            <c:strRef>
              <c:f>Sheet1!$A$2:$A$5</c:f>
              <c:strCache>
                <c:ptCount val="4"/>
                <c:pt idx="0">
                  <c:v>T4</c:v>
                </c:pt>
                <c:pt idx="1">
                  <c:v>L40S</c:v>
                </c:pt>
                <c:pt idx="2">
                  <c:v>A100 80GB</c:v>
                </c:pt>
                <c:pt idx="3">
                  <c:v>H100</c:v>
                </c:pt>
              </c:strCache>
            </c:strRef>
          </c:cat>
          <c:val>
            <c:numRef>
              <c:f>Sheet1!$E$2:$E$5</c:f>
              <c:numCache>
                <c:formatCode>General</c:formatCode>
                <c:ptCount val="4"/>
                <c:pt idx="0">
                  <c:v>1.1999999999999999E-3</c:v>
                </c:pt>
                <c:pt idx="1">
                  <c:v>5.1999999999999998E-3</c:v>
                </c:pt>
                <c:pt idx="2">
                  <c:v>7.4000000000000003E-3</c:v>
                </c:pt>
                <c:pt idx="3">
                  <c:v>8.0999999999999996E-3</c:v>
                </c:pt>
              </c:numCache>
            </c:numRef>
          </c:val>
          <c:extLst>
            <c:ext xmlns:c16="http://schemas.microsoft.com/office/drawing/2014/chart" uri="{C3380CC4-5D6E-409C-BE32-E72D297353CC}">
              <c16:uniqueId val="{00000003-FE2D-4721-9143-7FAFCAD9A223}"/>
            </c:ext>
          </c:extLst>
        </c:ser>
        <c:dLbls>
          <c:showLegendKey val="0"/>
          <c:showVal val="0"/>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7415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5E7EB"/>
              </a:solidFill>
              <a:prstDash val="solid"/>
              <a:round/>
            </a:ln>
          </c:spPr>
        </c:majorGridlines>
        <c:numFmt formatCode="\$0.0000"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374151"/>
              </a:solidFil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radarChart>
        <c:radarStyle val="marker"/>
        <c:varyColors val="0"/>
        <c:ser>
          <c:idx val="0"/>
          <c:order val="0"/>
          <c:tx>
            <c:strRef>
              <c:f>Sheet1!$B$1</c:f>
              <c:strCache>
                <c:ptCount val="1"/>
                <c:pt idx="0">
                  <c:v>SigLIP Base</c:v>
                </c:pt>
              </c:strCache>
            </c:strRef>
          </c:tx>
          <c:spPr>
            <a:ln w="25400" cap="flat">
              <a:solidFill>
                <a:srgbClr val="D97706"/>
              </a:solidFill>
              <a:prstDash val="solid"/>
              <a:round/>
            </a:ln>
            <a:effectLst/>
          </c:spPr>
          <c:marker>
            <c:symbol val="circle"/>
            <c:size val="6"/>
            <c:spPr>
              <a:solidFill>
                <a:srgbClr val="D97706"/>
              </a:solidFill>
              <a:ln w="9525" cap="flat">
                <a:solidFill>
                  <a:srgbClr val="D97706"/>
                </a:solidFill>
                <a:prstDash val="solid"/>
                <a:round/>
              </a:ln>
              <a:effectLst/>
            </c:spPr>
          </c:marker>
          <c:cat>
            <c:strRef>
              <c:f>Sheet1!$A$2:$A$7</c:f>
              <c:strCache>
                <c:ptCount val="6"/>
                <c:pt idx="0">
                  <c:v>Top-1 Acc.</c:v>
                </c:pt>
                <c:pt idx="1">
                  <c:v>Top-3 Acc.</c:v>
                </c:pt>
                <c:pt idx="2">
                  <c:v>MRR</c:v>
                </c:pt>
                <c:pt idx="3">
                  <c:v>Small Size</c:v>
                </c:pt>
                <c:pt idx="4">
                  <c:v>Fast Speed</c:v>
                </c:pt>
                <c:pt idx="5">
                  <c:v>Low Cost</c:v>
                </c:pt>
              </c:strCache>
            </c:strRef>
          </c:cat>
          <c:val>
            <c:numRef>
              <c:f>Sheet1!$B$2:$B$7</c:f>
              <c:numCache>
                <c:formatCode>General</c:formatCode>
                <c:ptCount val="6"/>
                <c:pt idx="0">
                  <c:v>0.9395</c:v>
                </c:pt>
                <c:pt idx="1">
                  <c:v>0.99519999999999997</c:v>
                </c:pt>
                <c:pt idx="2">
                  <c:v>0.96719999999999995</c:v>
                </c:pt>
                <c:pt idx="3">
                  <c:v>0</c:v>
                </c:pt>
                <c:pt idx="4">
                  <c:v>0.30319563522992965</c:v>
                </c:pt>
                <c:pt idx="5">
                  <c:v>0.31034482758620707</c:v>
                </c:pt>
              </c:numCache>
            </c:numRef>
          </c:val>
          <c:extLst>
            <c:ext xmlns:c16="http://schemas.microsoft.com/office/drawing/2014/chart" uri="{C3380CC4-5D6E-409C-BE32-E72D297353CC}">
              <c16:uniqueId val="{00000000-6EC7-4E3D-86EE-65479A9EA151}"/>
            </c:ext>
          </c:extLst>
        </c:ser>
        <c:ser>
          <c:idx val="1"/>
          <c:order val="1"/>
          <c:tx>
            <c:strRef>
              <c:f>Sheet1!$C$1</c:f>
              <c:strCache>
                <c:ptCount val="1"/>
                <c:pt idx="0">
                  <c:v>YOLO-World</c:v>
                </c:pt>
              </c:strCache>
            </c:strRef>
          </c:tx>
          <c:spPr>
            <a:ln w="25400" cap="flat">
              <a:solidFill>
                <a:srgbClr val="8B5CF6"/>
              </a:solidFill>
              <a:prstDash val="solid"/>
              <a:round/>
            </a:ln>
            <a:effectLst/>
          </c:spPr>
          <c:marker>
            <c:symbol val="circle"/>
            <c:size val="6"/>
            <c:spPr>
              <a:solidFill>
                <a:srgbClr val="8B5CF6"/>
              </a:solidFill>
              <a:ln w="9525" cap="flat">
                <a:solidFill>
                  <a:srgbClr val="8B5CF6"/>
                </a:solidFill>
                <a:prstDash val="solid"/>
                <a:round/>
              </a:ln>
              <a:effectLst/>
            </c:spPr>
          </c:marker>
          <c:cat>
            <c:strRef>
              <c:f>Sheet1!$A$2:$A$7</c:f>
              <c:strCache>
                <c:ptCount val="6"/>
                <c:pt idx="0">
                  <c:v>Top-1 Acc.</c:v>
                </c:pt>
                <c:pt idx="1">
                  <c:v>Top-3 Acc.</c:v>
                </c:pt>
                <c:pt idx="2">
                  <c:v>MRR</c:v>
                </c:pt>
                <c:pt idx="3">
                  <c:v>Small Size</c:v>
                </c:pt>
                <c:pt idx="4">
                  <c:v>Fast Speed</c:v>
                </c:pt>
                <c:pt idx="5">
                  <c:v>Low Cost</c:v>
                </c:pt>
              </c:strCache>
            </c:strRef>
          </c:cat>
          <c:val>
            <c:numRef>
              <c:f>Sheet1!$C$2:$C$7</c:f>
              <c:numCache>
                <c:formatCode>General</c:formatCode>
                <c:ptCount val="6"/>
                <c:pt idx="0">
                  <c:v>0.52</c:v>
                </c:pt>
                <c:pt idx="1">
                  <c:v>0.62880000000000003</c:v>
                </c:pt>
                <c:pt idx="2">
                  <c:v>0.59189999999999998</c:v>
                </c:pt>
                <c:pt idx="3">
                  <c:v>1</c:v>
                </c:pt>
                <c:pt idx="4">
                  <c:v>0.28448947778643796</c:v>
                </c:pt>
                <c:pt idx="5">
                  <c:v>0.27586206896551735</c:v>
                </c:pt>
              </c:numCache>
            </c:numRef>
          </c:val>
          <c:extLst>
            <c:ext xmlns:c16="http://schemas.microsoft.com/office/drawing/2014/chart" uri="{C3380CC4-5D6E-409C-BE32-E72D297353CC}">
              <c16:uniqueId val="{00000001-6EC7-4E3D-86EE-65479A9EA151}"/>
            </c:ext>
          </c:extLst>
        </c:ser>
        <c:ser>
          <c:idx val="2"/>
          <c:order val="2"/>
          <c:tx>
            <c:strRef>
              <c:f>Sheet1!$D$1</c:f>
              <c:strCache>
                <c:ptCount val="1"/>
                <c:pt idx="0">
                  <c:v>DINOv2 Base</c:v>
                </c:pt>
              </c:strCache>
            </c:strRef>
          </c:tx>
          <c:spPr>
            <a:ln w="25400" cap="flat">
              <a:solidFill>
                <a:srgbClr val="DC2626"/>
              </a:solidFill>
              <a:prstDash val="solid"/>
              <a:round/>
            </a:ln>
            <a:effectLst/>
          </c:spPr>
          <c:marker>
            <c:symbol val="circle"/>
            <c:size val="6"/>
            <c:spPr>
              <a:solidFill>
                <a:srgbClr val="DC2626"/>
              </a:solidFill>
              <a:ln w="9525" cap="flat">
                <a:solidFill>
                  <a:srgbClr val="DC2626"/>
                </a:solidFill>
                <a:prstDash val="solid"/>
                <a:round/>
              </a:ln>
              <a:effectLst/>
            </c:spPr>
          </c:marker>
          <c:cat>
            <c:strRef>
              <c:f>Sheet1!$A$2:$A$7</c:f>
              <c:strCache>
                <c:ptCount val="6"/>
                <c:pt idx="0">
                  <c:v>Top-1 Acc.</c:v>
                </c:pt>
                <c:pt idx="1">
                  <c:v>Top-3 Acc.</c:v>
                </c:pt>
                <c:pt idx="2">
                  <c:v>MRR</c:v>
                </c:pt>
                <c:pt idx="3">
                  <c:v>Small Size</c:v>
                </c:pt>
                <c:pt idx="4">
                  <c:v>Fast Speed</c:v>
                </c:pt>
                <c:pt idx="5">
                  <c:v>Low Cost</c:v>
                </c:pt>
              </c:strCache>
            </c:strRef>
          </c:cat>
          <c:val>
            <c:numRef>
              <c:f>Sheet1!$D$2:$D$7</c:f>
              <c:numCache>
                <c:formatCode>General</c:formatCode>
                <c:ptCount val="6"/>
                <c:pt idx="0">
                  <c:v>0.9395</c:v>
                </c:pt>
                <c:pt idx="1">
                  <c:v>0.99399999999999999</c:v>
                </c:pt>
                <c:pt idx="2">
                  <c:v>0.96709999999999996</c:v>
                </c:pt>
                <c:pt idx="3">
                  <c:v>0.6124368313068862</c:v>
                </c:pt>
                <c:pt idx="4">
                  <c:v>0</c:v>
                </c:pt>
                <c:pt idx="5">
                  <c:v>0</c:v>
                </c:pt>
              </c:numCache>
            </c:numRef>
          </c:val>
          <c:extLst>
            <c:ext xmlns:c16="http://schemas.microsoft.com/office/drawing/2014/chart" uri="{C3380CC4-5D6E-409C-BE32-E72D297353CC}">
              <c16:uniqueId val="{00000002-6EC7-4E3D-86EE-65479A9EA151}"/>
            </c:ext>
          </c:extLst>
        </c:ser>
        <c:ser>
          <c:idx val="3"/>
          <c:order val="3"/>
          <c:tx>
            <c:strRef>
              <c:f>Sheet1!$E$1</c:f>
              <c:strCache>
                <c:ptCount val="1"/>
                <c:pt idx="0">
                  <c:v>CLIP ViT-B/32</c:v>
                </c:pt>
              </c:strCache>
            </c:strRef>
          </c:tx>
          <c:spPr>
            <a:ln w="25400" cap="flat">
              <a:solidFill>
                <a:srgbClr val="9CA3AF"/>
              </a:solidFill>
              <a:prstDash val="solid"/>
              <a:round/>
            </a:ln>
            <a:effectLst/>
          </c:spPr>
          <c:marker>
            <c:symbol val="circle"/>
            <c:size val="6"/>
            <c:spPr>
              <a:solidFill>
                <a:srgbClr val="9CA3AF"/>
              </a:solidFill>
              <a:ln w="9525" cap="flat">
                <a:solidFill>
                  <a:srgbClr val="9CA3AF"/>
                </a:solidFill>
                <a:prstDash val="solid"/>
                <a:round/>
              </a:ln>
              <a:effectLst/>
            </c:spPr>
          </c:marker>
          <c:cat>
            <c:strRef>
              <c:f>Sheet1!$A$2:$A$7</c:f>
              <c:strCache>
                <c:ptCount val="6"/>
                <c:pt idx="0">
                  <c:v>Top-1 Acc.</c:v>
                </c:pt>
                <c:pt idx="1">
                  <c:v>Top-3 Acc.</c:v>
                </c:pt>
                <c:pt idx="2">
                  <c:v>MRR</c:v>
                </c:pt>
                <c:pt idx="3">
                  <c:v>Small Size</c:v>
                </c:pt>
                <c:pt idx="4">
                  <c:v>Fast Speed</c:v>
                </c:pt>
                <c:pt idx="5">
                  <c:v>Low Cost</c:v>
                </c:pt>
              </c:strCache>
            </c:strRef>
          </c:cat>
          <c:val>
            <c:numRef>
              <c:f>Sheet1!$E$2:$E$7</c:f>
              <c:numCache>
                <c:formatCode>General</c:formatCode>
                <c:ptCount val="6"/>
                <c:pt idx="0">
                  <c:v>0.92500000000000004</c:v>
                </c:pt>
                <c:pt idx="1">
                  <c:v>0.99029999999999996</c:v>
                </c:pt>
                <c:pt idx="2">
                  <c:v>0.95779999999999998</c:v>
                </c:pt>
                <c:pt idx="3">
                  <c:v>0.27250320146510054</c:v>
                </c:pt>
                <c:pt idx="4">
                  <c:v>1</c:v>
                </c:pt>
                <c:pt idx="5">
                  <c:v>1</c:v>
                </c:pt>
              </c:numCache>
            </c:numRef>
          </c:val>
          <c:extLst>
            <c:ext xmlns:c16="http://schemas.microsoft.com/office/drawing/2014/chart" uri="{C3380CC4-5D6E-409C-BE32-E72D297353CC}">
              <c16:uniqueId val="{00000003-6EC7-4E3D-86EE-65479A9EA151}"/>
            </c:ext>
          </c:extLst>
        </c:ser>
        <c:ser>
          <c:idx val="4"/>
          <c:order val="4"/>
          <c:tx>
            <c:strRef>
              <c:f>Sheet1!$F$1</c:f>
              <c:strCache>
                <c:ptCount val="1"/>
                <c:pt idx="0">
                  <c:v>OpenCLIP ViT-B/32</c:v>
                </c:pt>
              </c:strCache>
            </c:strRef>
          </c:tx>
          <c:spPr>
            <a:ln w="25400" cap="flat">
              <a:solidFill>
                <a:srgbClr val="16A34A"/>
              </a:solidFill>
              <a:prstDash val="solid"/>
              <a:round/>
            </a:ln>
            <a:effectLst/>
          </c:spPr>
          <c:marker>
            <c:symbol val="circle"/>
            <c:size val="6"/>
            <c:spPr>
              <a:solidFill>
                <a:srgbClr val="16A34A"/>
              </a:solidFill>
              <a:ln w="9525" cap="flat">
                <a:solidFill>
                  <a:srgbClr val="16A34A"/>
                </a:solidFill>
                <a:prstDash val="solid"/>
                <a:round/>
              </a:ln>
              <a:effectLst/>
            </c:spPr>
          </c:marker>
          <c:cat>
            <c:strRef>
              <c:f>Sheet1!$A$2:$A$7</c:f>
              <c:strCache>
                <c:ptCount val="6"/>
                <c:pt idx="0">
                  <c:v>Top-1 Acc.</c:v>
                </c:pt>
                <c:pt idx="1">
                  <c:v>Top-3 Acc.</c:v>
                </c:pt>
                <c:pt idx="2">
                  <c:v>MRR</c:v>
                </c:pt>
                <c:pt idx="3">
                  <c:v>Small Size</c:v>
                </c:pt>
                <c:pt idx="4">
                  <c:v>Fast Speed</c:v>
                </c:pt>
                <c:pt idx="5">
                  <c:v>Low Cost</c:v>
                </c:pt>
              </c:strCache>
            </c:strRef>
          </c:cat>
          <c:val>
            <c:numRef>
              <c:f>Sheet1!$F$2:$F$7</c:f>
              <c:numCache>
                <c:formatCode>General</c:formatCode>
                <c:ptCount val="6"/>
                <c:pt idx="0">
                  <c:v>0.93469999999999998</c:v>
                </c:pt>
                <c:pt idx="1">
                  <c:v>0.99399999999999999</c:v>
                </c:pt>
                <c:pt idx="2">
                  <c:v>0.96330000000000005</c:v>
                </c:pt>
                <c:pt idx="3">
                  <c:v>0.27250320146510054</c:v>
                </c:pt>
                <c:pt idx="4">
                  <c:v>0.99766173031956351</c:v>
                </c:pt>
                <c:pt idx="5">
                  <c:v>1</c:v>
                </c:pt>
              </c:numCache>
            </c:numRef>
          </c:val>
          <c:extLst>
            <c:ext xmlns:c16="http://schemas.microsoft.com/office/drawing/2014/chart" uri="{C3380CC4-5D6E-409C-BE32-E72D297353CC}">
              <c16:uniqueId val="{00000004-6EC7-4E3D-86EE-65479A9EA151}"/>
            </c:ext>
          </c:extLst>
        </c:ser>
        <c:dLbls>
          <c:showLegendKey val="0"/>
          <c:showVal val="0"/>
          <c:showCatName val="0"/>
          <c:showSerName val="0"/>
          <c:showPercent val="0"/>
          <c:showBubbleSize val="0"/>
        </c:dLbls>
        <c:axId val="2094734554"/>
        <c:axId val="2094734552"/>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74151"/>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050">
              <a:solidFill>
                <a:srgbClr val="374151"/>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8804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44"/>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1F44"/>
          </a:solidFill>
          <a:ln/>
        </p:spPr>
      </p:sp>
      <p:sp>
        <p:nvSpPr>
          <p:cNvPr id="3" name="Text 1"/>
          <p:cNvSpPr/>
          <p:nvPr/>
        </p:nvSpPr>
        <p:spPr>
          <a:xfrm>
            <a:off x="822960" y="2148840"/>
            <a:ext cx="10515600" cy="365760"/>
          </a:xfrm>
          <a:prstGeom prst="rect">
            <a:avLst/>
          </a:prstGeom>
          <a:noFill/>
          <a:ln/>
        </p:spPr>
        <p:txBody>
          <a:bodyPr wrap="square" rtlCol="0" anchor="ctr"/>
          <a:lstStyle/>
          <a:p>
            <a:pPr marL="0" indent="0">
              <a:buNone/>
            </a:pPr>
            <a:r>
              <a:rPr lang="en-US" sz="1300" b="1" kern="0" spc="300" dirty="0">
                <a:solidFill>
                  <a:srgbClr val="3B82F6"/>
                </a:solidFill>
                <a:latin typeface="Arial" pitchFamily="34" charset="0"/>
                <a:ea typeface="Arial" pitchFamily="34" charset="-122"/>
                <a:cs typeface="Arial" pitchFamily="34" charset="-120"/>
              </a:rPr>
              <a:t>VISUAL SEARCH  MODEL EVALUATION</a:t>
            </a:r>
            <a:endParaRPr lang="en-US" sz="1300" dirty="0"/>
          </a:p>
        </p:txBody>
      </p:sp>
      <p:sp>
        <p:nvSpPr>
          <p:cNvPr id="4" name="Text 2"/>
          <p:cNvSpPr/>
          <p:nvPr/>
        </p:nvSpPr>
        <p:spPr>
          <a:xfrm>
            <a:off x="822960" y="2514600"/>
            <a:ext cx="10515600" cy="1005840"/>
          </a:xfrm>
          <a:prstGeom prst="rect">
            <a:avLst/>
          </a:prstGeom>
          <a:noFill/>
          <a:ln/>
        </p:spPr>
        <p:txBody>
          <a:bodyPr wrap="square" rtlCol="0" anchor="ctr"/>
          <a:lstStyle/>
          <a:p>
            <a:pPr marL="0" indent="0">
              <a:buNone/>
            </a:pPr>
            <a:r>
              <a:rPr lang="en-US" sz="4000" b="1" dirty="0">
                <a:solidFill>
                  <a:srgbClr val="FFFFFF"/>
                </a:solidFill>
                <a:latin typeface="Arial" pitchFamily="34" charset="0"/>
                <a:ea typeface="Arial" pitchFamily="34" charset="-122"/>
                <a:cs typeface="Arial" pitchFamily="34" charset="-120"/>
              </a:rPr>
              <a:t>Embedding &amp; Retrieval Model Comparison</a:t>
            </a:r>
            <a:endParaRPr lang="en-US" sz="4000" dirty="0"/>
          </a:p>
        </p:txBody>
      </p:sp>
      <p:sp>
        <p:nvSpPr>
          <p:cNvPr id="5" name="Text 3"/>
          <p:cNvSpPr/>
          <p:nvPr/>
        </p:nvSpPr>
        <p:spPr>
          <a:xfrm>
            <a:off x="822960" y="3429000"/>
            <a:ext cx="9601200" cy="548640"/>
          </a:xfrm>
          <a:prstGeom prst="rect">
            <a:avLst/>
          </a:prstGeom>
          <a:noFill/>
          <a:ln/>
        </p:spPr>
        <p:txBody>
          <a:bodyPr wrap="square" rtlCol="0" anchor="ctr"/>
          <a:lstStyle/>
          <a:p>
            <a:pPr marL="0" indent="0">
              <a:buNone/>
            </a:pPr>
            <a:r>
              <a:rPr lang="en-US" sz="1500" dirty="0">
                <a:solidFill>
                  <a:srgbClr val="C7D2E0"/>
                </a:solidFill>
                <a:latin typeface="Arial" pitchFamily="34" charset="0"/>
                <a:ea typeface="Arial" pitchFamily="34" charset="-122"/>
                <a:cs typeface="Arial" pitchFamily="34" charset="-120"/>
              </a:rPr>
              <a:t>Benchmarking 5 candidate models for photo-based inventory search accuracy, speed, and projected API cost</a:t>
            </a:r>
            <a:endParaRPr lang="en-US" sz="1500" dirty="0"/>
          </a:p>
        </p:txBody>
      </p:sp>
      <p:sp>
        <p:nvSpPr>
          <p:cNvPr id="6" name="Shape 4"/>
          <p:cNvSpPr/>
          <p:nvPr/>
        </p:nvSpPr>
        <p:spPr>
          <a:xfrm>
            <a:off x="822960" y="4160520"/>
            <a:ext cx="2011680" cy="0"/>
          </a:xfrm>
          <a:prstGeom prst="line">
            <a:avLst/>
          </a:prstGeom>
          <a:noFill/>
          <a:ln w="31750">
            <a:solidFill>
              <a:srgbClr val="3B82F6"/>
            </a:solidFill>
            <a:prstDash val="solid"/>
          </a:ln>
        </p:spPr>
      </p:sp>
      <p:sp>
        <p:nvSpPr>
          <p:cNvPr id="7" name="Text 5"/>
          <p:cNvSpPr/>
          <p:nvPr/>
        </p:nvSpPr>
        <p:spPr>
          <a:xfrm>
            <a:off x="822960" y="6126480"/>
            <a:ext cx="9144000" cy="365760"/>
          </a:xfrm>
          <a:prstGeom prst="rect">
            <a:avLst/>
          </a:prstGeom>
          <a:noFill/>
          <a:ln/>
        </p:spPr>
        <p:txBody>
          <a:bodyPr wrap="square" rtlCol="0" anchor="ctr"/>
          <a:lstStyle/>
          <a:p>
            <a:pPr marL="0" indent="0">
              <a:buNone/>
            </a:pPr>
            <a:r>
              <a:rPr lang="en-US" sz="1100" dirty="0">
                <a:solidFill>
                  <a:srgbClr val="8FA3C4"/>
                </a:solidFill>
                <a:latin typeface="Arial" pitchFamily="34" charset="0"/>
                <a:ea typeface="Arial" pitchFamily="34" charset="-122"/>
                <a:cs typeface="Arial" pitchFamily="34" charset="-120"/>
              </a:rPr>
              <a:t>Prepared by Datix AI  |  Conductor.fun Visual Search Project  |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2B6CB0"/>
                </a:solidFill>
                <a:latin typeface="Arial" pitchFamily="34" charset="0"/>
                <a:ea typeface="Arial" pitchFamily="34" charset="-122"/>
                <a:cs typeface="Arial" pitchFamily="34" charset="-120"/>
              </a:rPr>
              <a:t>EXECUTIVE SUMMARY</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0A1F44"/>
                </a:solidFill>
                <a:latin typeface="Arial" pitchFamily="34" charset="0"/>
                <a:ea typeface="Arial" pitchFamily="34" charset="-122"/>
                <a:cs typeface="Arial" pitchFamily="34" charset="-120"/>
              </a:rPr>
              <a:t>Five models tested. One clear winner.</a:t>
            </a:r>
            <a:endParaRPr lang="en-US" sz="3000" dirty="0"/>
          </a:p>
        </p:txBody>
      </p:sp>
      <p:sp>
        <p:nvSpPr>
          <p:cNvPr id="4" name="Shape 2"/>
          <p:cNvSpPr/>
          <p:nvPr/>
        </p:nvSpPr>
        <p:spPr>
          <a:xfrm>
            <a:off x="548640" y="1691640"/>
            <a:ext cx="2487168" cy="1737360"/>
          </a:xfrm>
          <a:prstGeom prst="rect">
            <a:avLst/>
          </a:prstGeom>
          <a:solidFill>
            <a:srgbClr val="F3F4F6"/>
          </a:solidFill>
          <a:ln/>
        </p:spPr>
      </p:sp>
      <p:sp>
        <p:nvSpPr>
          <p:cNvPr id="5" name="Text 3"/>
          <p:cNvSpPr/>
          <p:nvPr/>
        </p:nvSpPr>
        <p:spPr>
          <a:xfrm>
            <a:off x="713232" y="1856232"/>
            <a:ext cx="2157984" cy="365760"/>
          </a:xfrm>
          <a:prstGeom prst="rect">
            <a:avLst/>
          </a:prstGeom>
          <a:noFill/>
          <a:ln/>
        </p:spPr>
        <p:txBody>
          <a:bodyPr wrap="square" rtlCol="0" anchor="ctr"/>
          <a:lstStyle/>
          <a:p>
            <a:pPr marL="0" indent="0">
              <a:buNone/>
            </a:pPr>
            <a:r>
              <a:rPr lang="en-US" sz="950" b="1" kern="0" spc="100" dirty="0">
                <a:solidFill>
                  <a:srgbClr val="6B7280"/>
                </a:solidFill>
                <a:latin typeface="Arial" pitchFamily="34" charset="0"/>
                <a:ea typeface="Arial" pitchFamily="34" charset="-122"/>
                <a:cs typeface="Arial" pitchFamily="34" charset="-120"/>
              </a:rPr>
              <a:t>RECOMMENDED MODEL</a:t>
            </a:r>
            <a:endParaRPr lang="en-US" sz="950" dirty="0"/>
          </a:p>
        </p:txBody>
      </p:sp>
      <p:sp>
        <p:nvSpPr>
          <p:cNvPr id="6" name="Text 4"/>
          <p:cNvSpPr/>
          <p:nvPr/>
        </p:nvSpPr>
        <p:spPr>
          <a:xfrm>
            <a:off x="713232" y="2258568"/>
            <a:ext cx="2157984" cy="640080"/>
          </a:xfrm>
          <a:prstGeom prst="rect">
            <a:avLst/>
          </a:prstGeom>
          <a:noFill/>
          <a:ln/>
        </p:spPr>
        <p:txBody>
          <a:bodyPr wrap="square" rtlCol="0" anchor="ctr"/>
          <a:lstStyle/>
          <a:p>
            <a:pPr marL="0" indent="0">
              <a:buNone/>
            </a:pPr>
            <a:r>
              <a:rPr lang="en-US" sz="2600" b="1" dirty="0">
                <a:solidFill>
                  <a:srgbClr val="16A34A"/>
                </a:solidFill>
                <a:latin typeface="Arial" pitchFamily="34" charset="0"/>
                <a:ea typeface="Arial" pitchFamily="34" charset="-122"/>
                <a:cs typeface="Arial" pitchFamily="34" charset="-120"/>
              </a:rPr>
              <a:t>OpenCLIP</a:t>
            </a:r>
            <a:endParaRPr lang="en-US" sz="2600" dirty="0"/>
          </a:p>
        </p:txBody>
      </p:sp>
      <p:sp>
        <p:nvSpPr>
          <p:cNvPr id="7" name="Text 5"/>
          <p:cNvSpPr/>
          <p:nvPr/>
        </p:nvSpPr>
        <p:spPr>
          <a:xfrm>
            <a:off x="713232" y="2926080"/>
            <a:ext cx="2157984" cy="411480"/>
          </a:xfrm>
          <a:prstGeom prst="rect">
            <a:avLst/>
          </a:prstGeom>
          <a:noFill/>
          <a:ln/>
        </p:spPr>
        <p:txBody>
          <a:bodyPr wrap="square" rtlCol="0" anchor="ctr"/>
          <a:lstStyle/>
          <a:p>
            <a:pPr marL="0" indent="0">
              <a:buNone/>
            </a:pPr>
            <a:r>
              <a:rPr lang="en-US" sz="1000" dirty="0">
                <a:solidFill>
                  <a:srgbClr val="6B7280"/>
                </a:solidFill>
                <a:latin typeface="Arial" pitchFamily="34" charset="0"/>
                <a:ea typeface="Arial" pitchFamily="34" charset="-122"/>
                <a:cs typeface="Arial" pitchFamily="34" charset="-120"/>
              </a:rPr>
              <a:t>ViT-B/32 (LAION-2B)</a:t>
            </a:r>
            <a:endParaRPr lang="en-US" sz="1000" dirty="0"/>
          </a:p>
        </p:txBody>
      </p:sp>
      <p:sp>
        <p:nvSpPr>
          <p:cNvPr id="8" name="Shape 6"/>
          <p:cNvSpPr/>
          <p:nvPr/>
        </p:nvSpPr>
        <p:spPr>
          <a:xfrm>
            <a:off x="3255264" y="1691640"/>
            <a:ext cx="2487168" cy="1737360"/>
          </a:xfrm>
          <a:prstGeom prst="rect">
            <a:avLst/>
          </a:prstGeom>
          <a:solidFill>
            <a:srgbClr val="F3F4F6"/>
          </a:solidFill>
          <a:ln/>
        </p:spPr>
      </p:sp>
      <p:sp>
        <p:nvSpPr>
          <p:cNvPr id="9" name="Text 7"/>
          <p:cNvSpPr/>
          <p:nvPr/>
        </p:nvSpPr>
        <p:spPr>
          <a:xfrm>
            <a:off x="3419856" y="1856232"/>
            <a:ext cx="2157984" cy="365760"/>
          </a:xfrm>
          <a:prstGeom prst="rect">
            <a:avLst/>
          </a:prstGeom>
          <a:noFill/>
          <a:ln/>
        </p:spPr>
        <p:txBody>
          <a:bodyPr wrap="square" rtlCol="0" anchor="ctr"/>
          <a:lstStyle/>
          <a:p>
            <a:pPr marL="0" indent="0">
              <a:buNone/>
            </a:pPr>
            <a:r>
              <a:rPr lang="en-US" sz="950" b="1" kern="0" spc="100" dirty="0">
                <a:solidFill>
                  <a:srgbClr val="6B7280"/>
                </a:solidFill>
                <a:latin typeface="Arial" pitchFamily="34" charset="0"/>
                <a:ea typeface="Arial" pitchFamily="34" charset="-122"/>
                <a:cs typeface="Arial" pitchFamily="34" charset="-120"/>
              </a:rPr>
              <a:t>TOP-1 ACCURACY</a:t>
            </a:r>
            <a:endParaRPr lang="en-US" sz="950" dirty="0"/>
          </a:p>
        </p:txBody>
      </p:sp>
      <p:sp>
        <p:nvSpPr>
          <p:cNvPr id="10" name="Text 8"/>
          <p:cNvSpPr/>
          <p:nvPr/>
        </p:nvSpPr>
        <p:spPr>
          <a:xfrm>
            <a:off x="3419856" y="2258568"/>
            <a:ext cx="2157984" cy="640080"/>
          </a:xfrm>
          <a:prstGeom prst="rect">
            <a:avLst/>
          </a:prstGeom>
          <a:noFill/>
          <a:ln/>
        </p:spPr>
        <p:txBody>
          <a:bodyPr wrap="square" rtlCol="0" anchor="ctr"/>
          <a:lstStyle/>
          <a:p>
            <a:pPr marL="0" indent="0">
              <a:buNone/>
            </a:pPr>
            <a:r>
              <a:rPr lang="en-US" sz="2600" b="1" dirty="0">
                <a:solidFill>
                  <a:srgbClr val="2B6CB0"/>
                </a:solidFill>
                <a:latin typeface="Arial" pitchFamily="34" charset="0"/>
                <a:ea typeface="Arial" pitchFamily="34" charset="-122"/>
                <a:cs typeface="Arial" pitchFamily="34" charset="-120"/>
              </a:rPr>
              <a:t>93.5%</a:t>
            </a:r>
            <a:endParaRPr lang="en-US" sz="2600" dirty="0"/>
          </a:p>
        </p:txBody>
      </p:sp>
      <p:sp>
        <p:nvSpPr>
          <p:cNvPr id="11" name="Text 9"/>
          <p:cNvSpPr/>
          <p:nvPr/>
        </p:nvSpPr>
        <p:spPr>
          <a:xfrm>
            <a:off x="3419856" y="2926080"/>
            <a:ext cx="2157984" cy="411480"/>
          </a:xfrm>
          <a:prstGeom prst="rect">
            <a:avLst/>
          </a:prstGeom>
          <a:noFill/>
          <a:ln/>
        </p:spPr>
        <p:txBody>
          <a:bodyPr wrap="square" rtlCol="0" anchor="ctr"/>
          <a:lstStyle/>
          <a:p>
            <a:pPr marL="0" indent="0">
              <a:buNone/>
            </a:pPr>
            <a:r>
              <a:rPr lang="en-US" sz="1000" dirty="0">
                <a:solidFill>
                  <a:srgbClr val="6B7280"/>
                </a:solidFill>
                <a:latin typeface="Arial" pitchFamily="34" charset="0"/>
                <a:ea typeface="Arial" pitchFamily="34" charset="-122"/>
                <a:cs typeface="Arial" pitchFamily="34" charset="-120"/>
              </a:rPr>
              <a:t>correct match, first result</a:t>
            </a:r>
            <a:endParaRPr lang="en-US" sz="1000" dirty="0"/>
          </a:p>
        </p:txBody>
      </p:sp>
      <p:sp>
        <p:nvSpPr>
          <p:cNvPr id="12" name="Shape 10"/>
          <p:cNvSpPr/>
          <p:nvPr/>
        </p:nvSpPr>
        <p:spPr>
          <a:xfrm>
            <a:off x="5961888" y="1691640"/>
            <a:ext cx="2487168" cy="1737360"/>
          </a:xfrm>
          <a:prstGeom prst="rect">
            <a:avLst/>
          </a:prstGeom>
          <a:solidFill>
            <a:srgbClr val="F3F4F6"/>
          </a:solidFill>
          <a:ln/>
        </p:spPr>
      </p:sp>
      <p:sp>
        <p:nvSpPr>
          <p:cNvPr id="13" name="Text 11"/>
          <p:cNvSpPr/>
          <p:nvPr/>
        </p:nvSpPr>
        <p:spPr>
          <a:xfrm>
            <a:off x="6126480" y="1856232"/>
            <a:ext cx="2157984" cy="365760"/>
          </a:xfrm>
          <a:prstGeom prst="rect">
            <a:avLst/>
          </a:prstGeom>
          <a:noFill/>
          <a:ln/>
        </p:spPr>
        <p:txBody>
          <a:bodyPr wrap="square" rtlCol="0" anchor="ctr"/>
          <a:lstStyle/>
          <a:p>
            <a:pPr marL="0" indent="0">
              <a:buNone/>
            </a:pPr>
            <a:r>
              <a:rPr lang="en-US" sz="950" b="1" kern="0" spc="100" dirty="0">
                <a:solidFill>
                  <a:srgbClr val="6B7280"/>
                </a:solidFill>
                <a:latin typeface="Arial" pitchFamily="34" charset="0"/>
                <a:ea typeface="Arial" pitchFamily="34" charset="-122"/>
                <a:cs typeface="Arial" pitchFamily="34" charset="-120"/>
              </a:rPr>
              <a:t>TOP-3 ACCURACY</a:t>
            </a:r>
            <a:endParaRPr lang="en-US" sz="950" dirty="0"/>
          </a:p>
        </p:txBody>
      </p:sp>
      <p:sp>
        <p:nvSpPr>
          <p:cNvPr id="14" name="Text 12"/>
          <p:cNvSpPr/>
          <p:nvPr/>
        </p:nvSpPr>
        <p:spPr>
          <a:xfrm>
            <a:off x="6126480" y="2258568"/>
            <a:ext cx="2157984" cy="640080"/>
          </a:xfrm>
          <a:prstGeom prst="rect">
            <a:avLst/>
          </a:prstGeom>
          <a:noFill/>
          <a:ln/>
        </p:spPr>
        <p:txBody>
          <a:bodyPr wrap="square" rtlCol="0" anchor="ctr"/>
          <a:lstStyle/>
          <a:p>
            <a:pPr marL="0" indent="0">
              <a:buNone/>
            </a:pPr>
            <a:r>
              <a:rPr lang="en-US" sz="2600" b="1" dirty="0">
                <a:solidFill>
                  <a:srgbClr val="2B6CB0"/>
                </a:solidFill>
                <a:latin typeface="Arial" pitchFamily="34" charset="0"/>
                <a:ea typeface="Arial" pitchFamily="34" charset="-122"/>
                <a:cs typeface="Arial" pitchFamily="34" charset="-120"/>
              </a:rPr>
              <a:t>99.4%</a:t>
            </a:r>
            <a:endParaRPr lang="en-US" sz="2600" dirty="0"/>
          </a:p>
        </p:txBody>
      </p:sp>
      <p:sp>
        <p:nvSpPr>
          <p:cNvPr id="15" name="Text 13"/>
          <p:cNvSpPr/>
          <p:nvPr/>
        </p:nvSpPr>
        <p:spPr>
          <a:xfrm>
            <a:off x="6126480" y="2926080"/>
            <a:ext cx="2157984" cy="411480"/>
          </a:xfrm>
          <a:prstGeom prst="rect">
            <a:avLst/>
          </a:prstGeom>
          <a:noFill/>
          <a:ln/>
        </p:spPr>
        <p:txBody>
          <a:bodyPr wrap="square" rtlCol="0" anchor="ctr"/>
          <a:lstStyle/>
          <a:p>
            <a:pPr marL="0" indent="0">
              <a:buNone/>
            </a:pPr>
            <a:r>
              <a:rPr lang="en-US" sz="1000" dirty="0">
                <a:solidFill>
                  <a:srgbClr val="6B7280"/>
                </a:solidFill>
                <a:latin typeface="Arial" pitchFamily="34" charset="0"/>
                <a:ea typeface="Arial" pitchFamily="34" charset="-122"/>
                <a:cs typeface="Arial" pitchFamily="34" charset="-120"/>
              </a:rPr>
              <a:t>correct match in top 3</a:t>
            </a:r>
            <a:endParaRPr lang="en-US" sz="1000" dirty="0"/>
          </a:p>
        </p:txBody>
      </p:sp>
      <p:sp>
        <p:nvSpPr>
          <p:cNvPr id="16" name="Shape 14"/>
          <p:cNvSpPr/>
          <p:nvPr/>
        </p:nvSpPr>
        <p:spPr>
          <a:xfrm>
            <a:off x="8668512" y="1691640"/>
            <a:ext cx="2487168" cy="1737360"/>
          </a:xfrm>
          <a:prstGeom prst="rect">
            <a:avLst/>
          </a:prstGeom>
          <a:solidFill>
            <a:srgbClr val="F3F4F6"/>
          </a:solidFill>
          <a:ln/>
        </p:spPr>
      </p:sp>
      <p:sp>
        <p:nvSpPr>
          <p:cNvPr id="17" name="Text 15"/>
          <p:cNvSpPr/>
          <p:nvPr/>
        </p:nvSpPr>
        <p:spPr>
          <a:xfrm>
            <a:off x="8833104" y="1856232"/>
            <a:ext cx="2157984" cy="365760"/>
          </a:xfrm>
          <a:prstGeom prst="rect">
            <a:avLst/>
          </a:prstGeom>
          <a:noFill/>
          <a:ln/>
        </p:spPr>
        <p:txBody>
          <a:bodyPr wrap="square" rtlCol="0" anchor="ctr"/>
          <a:lstStyle/>
          <a:p>
            <a:pPr marL="0" indent="0">
              <a:buNone/>
            </a:pPr>
            <a:r>
              <a:rPr lang="en-US" sz="950" b="1" kern="0" spc="100" dirty="0">
                <a:solidFill>
                  <a:srgbClr val="6B7280"/>
                </a:solidFill>
                <a:latin typeface="Arial" pitchFamily="34" charset="0"/>
                <a:ea typeface="Arial" pitchFamily="34" charset="-122"/>
                <a:cs typeface="Arial" pitchFamily="34" charset="-120"/>
              </a:rPr>
              <a:t>COST PER 1,000 SEARCHES</a:t>
            </a:r>
            <a:endParaRPr lang="en-US" sz="950" dirty="0"/>
          </a:p>
        </p:txBody>
      </p:sp>
      <p:sp>
        <p:nvSpPr>
          <p:cNvPr id="18" name="Text 16"/>
          <p:cNvSpPr/>
          <p:nvPr/>
        </p:nvSpPr>
        <p:spPr>
          <a:xfrm>
            <a:off x="8833104" y="2258568"/>
            <a:ext cx="2157984" cy="640080"/>
          </a:xfrm>
          <a:prstGeom prst="rect">
            <a:avLst/>
          </a:prstGeom>
          <a:noFill/>
          <a:ln/>
        </p:spPr>
        <p:txBody>
          <a:bodyPr wrap="square" rtlCol="0" anchor="ctr"/>
          <a:lstStyle/>
          <a:p>
            <a:pPr marL="0" indent="0">
              <a:buNone/>
            </a:pPr>
            <a:r>
              <a:rPr lang="en-US" sz="2600" b="1" dirty="0">
                <a:solidFill>
                  <a:srgbClr val="D97706"/>
                </a:solidFill>
                <a:latin typeface="Arial" pitchFamily="34" charset="0"/>
                <a:ea typeface="Arial" pitchFamily="34" charset="-122"/>
                <a:cs typeface="Arial" pitchFamily="34" charset="-120"/>
              </a:rPr>
              <a:t>$0.0012</a:t>
            </a:r>
            <a:endParaRPr lang="en-US" sz="2600" dirty="0"/>
          </a:p>
        </p:txBody>
      </p:sp>
      <p:sp>
        <p:nvSpPr>
          <p:cNvPr id="19" name="Text 17"/>
          <p:cNvSpPr/>
          <p:nvPr/>
        </p:nvSpPr>
        <p:spPr>
          <a:xfrm>
            <a:off x="8833104" y="2926080"/>
            <a:ext cx="2157984" cy="411480"/>
          </a:xfrm>
          <a:prstGeom prst="rect">
            <a:avLst/>
          </a:prstGeom>
          <a:noFill/>
          <a:ln/>
        </p:spPr>
        <p:txBody>
          <a:bodyPr wrap="square" rtlCol="0" anchor="ctr"/>
          <a:lstStyle/>
          <a:p>
            <a:pPr marL="0" indent="0">
              <a:buNone/>
            </a:pPr>
            <a:r>
              <a:rPr lang="en-US" sz="1000" dirty="0">
                <a:solidFill>
                  <a:srgbClr val="6B7280"/>
                </a:solidFill>
                <a:latin typeface="Arial" pitchFamily="34" charset="0"/>
                <a:ea typeface="Arial" pitchFamily="34" charset="-122"/>
                <a:cs typeface="Arial" pitchFamily="34" charset="-120"/>
              </a:rPr>
              <a:t>on entry-level GPU (T4)</a:t>
            </a:r>
            <a:endParaRPr lang="en-US" sz="1000" dirty="0"/>
          </a:p>
        </p:txBody>
      </p:sp>
      <p:sp>
        <p:nvSpPr>
          <p:cNvPr id="20" name="Text 18"/>
          <p:cNvSpPr/>
          <p:nvPr/>
        </p:nvSpPr>
        <p:spPr>
          <a:xfrm>
            <a:off x="548640" y="3794760"/>
            <a:ext cx="10515600" cy="914400"/>
          </a:xfrm>
          <a:prstGeom prst="rect">
            <a:avLst/>
          </a:prstGeom>
          <a:noFill/>
          <a:ln/>
        </p:spPr>
        <p:txBody>
          <a:bodyPr wrap="square" rtlCol="0" anchor="ctr"/>
          <a:lstStyle/>
          <a:p>
            <a:pPr marL="0" indent="0">
              <a:lnSpc>
                <a:spcPct val="125000"/>
              </a:lnSpc>
              <a:buNone/>
            </a:pPr>
            <a:r>
              <a:rPr lang="en-US" sz="1400" b="1" dirty="0">
                <a:solidFill>
                  <a:srgbClr val="0A1F44"/>
                </a:solidFill>
                <a:latin typeface="Arial" pitchFamily="34" charset="0"/>
                <a:ea typeface="Arial" pitchFamily="34" charset="-122"/>
                <a:cs typeface="Arial" pitchFamily="34" charset="-120"/>
              </a:rPr>
              <a:t>What this means:  </a:t>
            </a:r>
            <a:r>
              <a:rPr lang="en-US" sz="1400" dirty="0">
                <a:solidFill>
                  <a:srgbClr val="374151"/>
                </a:solidFill>
                <a:latin typeface="Arial" pitchFamily="34" charset="0"/>
                <a:ea typeface="Arial" pitchFamily="34" charset="-122"/>
                <a:cs typeface="Arial" pitchFamily="34" charset="-120"/>
              </a:rPr>
              <a:t>OpenCLIP delivers accuracy statistically tied with the best-performing models tested, at roughly 3-4x the inference speed and a fraction of the cost of the alternatives. Because this is a retrieval system, adding a new item to inventory later takes one photo and zero retraining.</a:t>
            </a:r>
            <a:endParaRPr lang="en-US" sz="1400" dirty="0"/>
          </a:p>
        </p:txBody>
      </p:sp>
      <p:sp>
        <p:nvSpPr>
          <p:cNvPr id="21" name="Shape 19"/>
          <p:cNvSpPr/>
          <p:nvPr/>
        </p:nvSpPr>
        <p:spPr>
          <a:xfrm>
            <a:off x="548640" y="4892040"/>
            <a:ext cx="10515600" cy="1234440"/>
          </a:xfrm>
          <a:prstGeom prst="rect">
            <a:avLst/>
          </a:prstGeom>
          <a:solidFill>
            <a:srgbClr val="0A1F44"/>
          </a:solidFill>
          <a:ln/>
        </p:spPr>
      </p:sp>
      <p:sp>
        <p:nvSpPr>
          <p:cNvPr id="22" name="Text 20"/>
          <p:cNvSpPr/>
          <p:nvPr/>
        </p:nvSpPr>
        <p:spPr>
          <a:xfrm>
            <a:off x="822960" y="5074920"/>
            <a:ext cx="1828800" cy="45720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827</a:t>
            </a:r>
            <a:endParaRPr lang="en-US" sz="2600" dirty="0"/>
          </a:p>
        </p:txBody>
      </p:sp>
      <p:sp>
        <p:nvSpPr>
          <p:cNvPr id="23" name="Text 21"/>
          <p:cNvSpPr/>
          <p:nvPr/>
        </p:nvSpPr>
        <p:spPr>
          <a:xfrm>
            <a:off x="822960" y="5532120"/>
            <a:ext cx="2194560" cy="457200"/>
          </a:xfrm>
          <a:prstGeom prst="rect">
            <a:avLst/>
          </a:prstGeom>
          <a:noFill/>
          <a:ln/>
        </p:spPr>
        <p:txBody>
          <a:bodyPr wrap="square" rtlCol="0" anchor="ctr"/>
          <a:lstStyle/>
          <a:p>
            <a:pPr marL="0" indent="0">
              <a:buNone/>
            </a:pPr>
            <a:r>
              <a:rPr lang="en-US" sz="1050" dirty="0">
                <a:solidFill>
                  <a:srgbClr val="AEB9CC"/>
                </a:solidFill>
                <a:latin typeface="Arial" pitchFamily="34" charset="0"/>
                <a:ea typeface="Arial" pitchFamily="34" charset="-122"/>
                <a:cs typeface="Arial" pitchFamily="34" charset="-120"/>
              </a:rPr>
              <a:t>inventory items tested</a:t>
            </a:r>
            <a:endParaRPr lang="en-US" sz="1050" dirty="0"/>
          </a:p>
        </p:txBody>
      </p:sp>
      <p:sp>
        <p:nvSpPr>
          <p:cNvPr id="24" name="Text 22"/>
          <p:cNvSpPr/>
          <p:nvPr/>
        </p:nvSpPr>
        <p:spPr>
          <a:xfrm>
            <a:off x="3017520" y="5074920"/>
            <a:ext cx="1828800" cy="45720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4,135</a:t>
            </a:r>
            <a:endParaRPr lang="en-US" sz="2600" dirty="0"/>
          </a:p>
        </p:txBody>
      </p:sp>
      <p:sp>
        <p:nvSpPr>
          <p:cNvPr id="25" name="Text 23"/>
          <p:cNvSpPr/>
          <p:nvPr/>
        </p:nvSpPr>
        <p:spPr>
          <a:xfrm>
            <a:off x="3017520" y="5532120"/>
            <a:ext cx="2377440" cy="457200"/>
          </a:xfrm>
          <a:prstGeom prst="rect">
            <a:avLst/>
          </a:prstGeom>
          <a:noFill/>
          <a:ln/>
        </p:spPr>
        <p:txBody>
          <a:bodyPr wrap="square" rtlCol="0" anchor="ctr"/>
          <a:lstStyle/>
          <a:p>
            <a:pPr marL="0" indent="0">
              <a:buNone/>
            </a:pPr>
            <a:r>
              <a:rPr lang="en-US" sz="1050" dirty="0">
                <a:solidFill>
                  <a:srgbClr val="AEB9CC"/>
                </a:solidFill>
                <a:latin typeface="Arial" pitchFamily="34" charset="0"/>
                <a:ea typeface="Arial" pitchFamily="34" charset="-122"/>
                <a:cs typeface="Arial" pitchFamily="34" charset="-120"/>
              </a:rPr>
              <a:t>photos across the benchmark</a:t>
            </a:r>
            <a:endParaRPr lang="en-US" sz="1050" dirty="0"/>
          </a:p>
        </p:txBody>
      </p:sp>
      <p:sp>
        <p:nvSpPr>
          <p:cNvPr id="26" name="Text 24"/>
          <p:cNvSpPr/>
          <p:nvPr/>
        </p:nvSpPr>
        <p:spPr>
          <a:xfrm>
            <a:off x="5394960" y="5074920"/>
            <a:ext cx="1371600" cy="45720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5</a:t>
            </a:r>
            <a:endParaRPr lang="en-US" sz="2600" dirty="0"/>
          </a:p>
        </p:txBody>
      </p:sp>
      <p:sp>
        <p:nvSpPr>
          <p:cNvPr id="27" name="Text 25"/>
          <p:cNvSpPr/>
          <p:nvPr/>
        </p:nvSpPr>
        <p:spPr>
          <a:xfrm>
            <a:off x="5394960" y="5532120"/>
            <a:ext cx="2377440" cy="457200"/>
          </a:xfrm>
          <a:prstGeom prst="rect">
            <a:avLst/>
          </a:prstGeom>
          <a:noFill/>
          <a:ln/>
        </p:spPr>
        <p:txBody>
          <a:bodyPr wrap="square" rtlCol="0" anchor="ctr"/>
          <a:lstStyle/>
          <a:p>
            <a:pPr marL="0" indent="0">
              <a:buNone/>
            </a:pPr>
            <a:r>
              <a:rPr lang="en-US" sz="1050" dirty="0">
                <a:solidFill>
                  <a:srgbClr val="AEB9CC"/>
                </a:solidFill>
                <a:latin typeface="Arial" pitchFamily="34" charset="0"/>
                <a:ea typeface="Arial" pitchFamily="34" charset="-122"/>
                <a:cs typeface="Arial" pitchFamily="34" charset="-120"/>
              </a:rPr>
              <a:t>embedding models benchmarked</a:t>
            </a:r>
            <a:endParaRPr lang="en-US" sz="1050" dirty="0"/>
          </a:p>
        </p:txBody>
      </p:sp>
      <p:sp>
        <p:nvSpPr>
          <p:cNvPr id="28" name="Text 26"/>
          <p:cNvSpPr/>
          <p:nvPr/>
        </p:nvSpPr>
        <p:spPr>
          <a:xfrm>
            <a:off x="7772400" y="5074920"/>
            <a:ext cx="1371600" cy="45720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0</a:t>
            </a:r>
            <a:endParaRPr lang="en-US" sz="2600" dirty="0"/>
          </a:p>
        </p:txBody>
      </p:sp>
      <p:sp>
        <p:nvSpPr>
          <p:cNvPr id="29" name="Text 27"/>
          <p:cNvSpPr/>
          <p:nvPr/>
        </p:nvSpPr>
        <p:spPr>
          <a:xfrm>
            <a:off x="7772400" y="5532120"/>
            <a:ext cx="2926080" cy="457200"/>
          </a:xfrm>
          <a:prstGeom prst="rect">
            <a:avLst/>
          </a:prstGeom>
          <a:noFill/>
          <a:ln/>
        </p:spPr>
        <p:txBody>
          <a:bodyPr wrap="square" rtlCol="0" anchor="ctr"/>
          <a:lstStyle/>
          <a:p>
            <a:pPr marL="0" indent="0">
              <a:buNone/>
            </a:pPr>
            <a:r>
              <a:rPr lang="en-US" sz="1050" dirty="0">
                <a:solidFill>
                  <a:srgbClr val="AEB9CC"/>
                </a:solidFill>
                <a:latin typeface="Arial" pitchFamily="34" charset="0"/>
                <a:ea typeface="Arial" pitchFamily="34" charset="-122"/>
                <a:cs typeface="Arial" pitchFamily="34" charset="-120"/>
              </a:rPr>
              <a:t>retraining needed to add new items</a:t>
            </a:r>
            <a:endParaRPr lang="en-US" sz="1050" dirty="0"/>
          </a:p>
        </p:txBody>
      </p:sp>
      <p:sp>
        <p:nvSpPr>
          <p:cNvPr id="30" name="Text 28"/>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Datix AI  |  Visual Search Model Evaluation</a:t>
            </a:r>
            <a:endParaRPr lang="en-US" sz="900" dirty="0"/>
          </a:p>
        </p:txBody>
      </p:sp>
      <p:sp>
        <p:nvSpPr>
          <p:cNvPr id="31" name="Text 29"/>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2B6CB0"/>
                </a:solidFill>
                <a:latin typeface="Arial" pitchFamily="34" charset="0"/>
                <a:ea typeface="Arial" pitchFamily="34" charset="-122"/>
                <a:cs typeface="Arial" pitchFamily="34" charset="-120"/>
              </a:rPr>
              <a:t>HOW THIS WAS TESTED</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0A1F44"/>
                </a:solidFill>
                <a:latin typeface="Arial" pitchFamily="34" charset="0"/>
                <a:ea typeface="Arial" pitchFamily="34" charset="-122"/>
                <a:cs typeface="Arial" pitchFamily="34" charset="-120"/>
              </a:rPr>
              <a:t>A retrieval-based approach, tested fairly</a:t>
            </a:r>
            <a:endParaRPr lang="en-US" sz="3000" dirty="0"/>
          </a:p>
        </p:txBody>
      </p:sp>
      <p:sp>
        <p:nvSpPr>
          <p:cNvPr id="4" name="Text 2"/>
          <p:cNvSpPr/>
          <p:nvPr/>
        </p:nvSpPr>
        <p:spPr>
          <a:xfrm>
            <a:off x="548640" y="1600200"/>
            <a:ext cx="5577840" cy="365760"/>
          </a:xfrm>
          <a:prstGeom prst="rect">
            <a:avLst/>
          </a:prstGeom>
          <a:noFill/>
          <a:ln/>
        </p:spPr>
        <p:txBody>
          <a:bodyPr wrap="square" rtlCol="0" anchor="ctr"/>
          <a:lstStyle/>
          <a:p>
            <a:pPr marL="0" indent="0">
              <a:buNone/>
            </a:pPr>
            <a:r>
              <a:rPr lang="en-US" sz="1500" b="1" dirty="0">
                <a:solidFill>
                  <a:srgbClr val="0A1F44"/>
                </a:solidFill>
                <a:latin typeface="Arial" pitchFamily="34" charset="0"/>
                <a:ea typeface="Arial" pitchFamily="34" charset="-122"/>
                <a:cs typeface="Arial" pitchFamily="34" charset="-120"/>
              </a:rPr>
              <a:t>Why retrieval, not classification</a:t>
            </a:r>
            <a:endParaRPr lang="en-US" sz="1500" dirty="0"/>
          </a:p>
        </p:txBody>
      </p:sp>
      <p:sp>
        <p:nvSpPr>
          <p:cNvPr id="5" name="Text 3"/>
          <p:cNvSpPr/>
          <p:nvPr/>
        </p:nvSpPr>
        <p:spPr>
          <a:xfrm>
            <a:off x="548640" y="2011680"/>
            <a:ext cx="5577840" cy="1188720"/>
          </a:xfrm>
          <a:prstGeom prst="rect">
            <a:avLst/>
          </a:prstGeom>
          <a:noFill/>
          <a:ln/>
        </p:spPr>
        <p:txBody>
          <a:bodyPr wrap="square" rtlCol="0" anchor="ctr"/>
          <a:lstStyle/>
          <a:p>
            <a:pPr marL="0" indent="0">
              <a:lnSpc>
                <a:spcPct val="130000"/>
              </a:lnSpc>
              <a:buNone/>
            </a:pPr>
            <a:r>
              <a:rPr lang="en-US" sz="1250" dirty="0">
                <a:solidFill>
                  <a:srgbClr val="374151"/>
                </a:solidFill>
                <a:latin typeface="Arial" pitchFamily="34" charset="0"/>
                <a:ea typeface="Arial" pitchFamily="34" charset="-122"/>
                <a:cs typeface="Arial" pitchFamily="34" charset="-120"/>
              </a:rPr>
              <a:t>Instead of training a model to choose among a fixed list of known items, each candidate model converts a photo into a numeric “fingerprint” (an embedding). A new photo is matched by finding the closest stored fingerprint — which means new inventory can be added later without retraining anything.</a:t>
            </a:r>
            <a:endParaRPr lang="en-US" sz="1250" dirty="0"/>
          </a:p>
        </p:txBody>
      </p:sp>
      <p:sp>
        <p:nvSpPr>
          <p:cNvPr id="6" name="Text 4"/>
          <p:cNvSpPr/>
          <p:nvPr/>
        </p:nvSpPr>
        <p:spPr>
          <a:xfrm>
            <a:off x="548640" y="3337560"/>
            <a:ext cx="5577840" cy="365760"/>
          </a:xfrm>
          <a:prstGeom prst="rect">
            <a:avLst/>
          </a:prstGeom>
          <a:noFill/>
          <a:ln/>
        </p:spPr>
        <p:txBody>
          <a:bodyPr wrap="square" rtlCol="0" anchor="ctr"/>
          <a:lstStyle/>
          <a:p>
            <a:pPr marL="0" indent="0">
              <a:buNone/>
            </a:pPr>
            <a:r>
              <a:rPr lang="en-US" sz="1500" b="1" dirty="0">
                <a:solidFill>
                  <a:srgbClr val="0A1F44"/>
                </a:solidFill>
                <a:latin typeface="Arial" pitchFamily="34" charset="0"/>
                <a:ea typeface="Arial" pitchFamily="34" charset="-122"/>
                <a:cs typeface="Arial" pitchFamily="34" charset="-120"/>
              </a:rPr>
              <a:t>Leakage-safe evaluation</a:t>
            </a:r>
            <a:endParaRPr lang="en-US" sz="1500" dirty="0"/>
          </a:p>
        </p:txBody>
      </p:sp>
      <p:sp>
        <p:nvSpPr>
          <p:cNvPr id="7" name="Text 5"/>
          <p:cNvSpPr/>
          <p:nvPr/>
        </p:nvSpPr>
        <p:spPr>
          <a:xfrm>
            <a:off x="548640" y="3749040"/>
            <a:ext cx="5577840" cy="1188720"/>
          </a:xfrm>
          <a:prstGeom prst="rect">
            <a:avLst/>
          </a:prstGeom>
          <a:noFill/>
          <a:ln/>
        </p:spPr>
        <p:txBody>
          <a:bodyPr wrap="square" rtlCol="0" anchor="ctr"/>
          <a:lstStyle/>
          <a:p>
            <a:pPr marL="0" indent="0">
              <a:lnSpc>
                <a:spcPct val="130000"/>
              </a:lnSpc>
              <a:buNone/>
            </a:pPr>
            <a:r>
              <a:rPr lang="en-US" sz="1250" dirty="0">
                <a:solidFill>
                  <a:srgbClr val="374151"/>
                </a:solidFill>
                <a:latin typeface="Arial" pitchFamily="34" charset="0"/>
                <a:ea typeface="Arial" pitchFamily="34" charset="-122"/>
                <a:cs typeface="Arial" pitchFamily="34" charset="-120"/>
              </a:rPr>
              <a:t>For every item, its one real catalog photo was held back as the test query  never shown to the model during setup. Only synthetic training variants built the reference index. This means the accuracy numbers reflect a genuinely unseen photo, not a memorized one.</a:t>
            </a:r>
            <a:endParaRPr lang="en-US" sz="1250" dirty="0"/>
          </a:p>
        </p:txBody>
      </p:sp>
      <p:sp>
        <p:nvSpPr>
          <p:cNvPr id="8" name="Shape 6"/>
          <p:cNvSpPr/>
          <p:nvPr/>
        </p:nvSpPr>
        <p:spPr>
          <a:xfrm>
            <a:off x="6446520" y="1600200"/>
            <a:ext cx="5212080" cy="3566160"/>
          </a:xfrm>
          <a:prstGeom prst="rect">
            <a:avLst/>
          </a:prstGeom>
          <a:solidFill>
            <a:srgbClr val="F3F4F6"/>
          </a:solidFill>
          <a:ln/>
        </p:spPr>
      </p:sp>
      <p:sp>
        <p:nvSpPr>
          <p:cNvPr id="9" name="Text 7"/>
          <p:cNvSpPr/>
          <p:nvPr/>
        </p:nvSpPr>
        <p:spPr>
          <a:xfrm>
            <a:off x="6766560" y="1874520"/>
            <a:ext cx="4572000" cy="320040"/>
          </a:xfrm>
          <a:prstGeom prst="rect">
            <a:avLst/>
          </a:prstGeom>
          <a:noFill/>
          <a:ln/>
        </p:spPr>
        <p:txBody>
          <a:bodyPr wrap="square" rtlCol="0" anchor="ctr"/>
          <a:lstStyle/>
          <a:p>
            <a:pPr marL="0" indent="0">
              <a:buNone/>
            </a:pPr>
            <a:r>
              <a:rPr lang="en-US" sz="1100" b="1" kern="0" spc="150" dirty="0">
                <a:solidFill>
                  <a:srgbClr val="2B6CB0"/>
                </a:solidFill>
                <a:latin typeface="Arial" pitchFamily="34" charset="0"/>
                <a:ea typeface="Arial" pitchFamily="34" charset="-122"/>
                <a:cs typeface="Arial" pitchFamily="34" charset="-120"/>
              </a:rPr>
              <a:t>DATASET COMPOSITION</a:t>
            </a:r>
            <a:endParaRPr lang="en-US" sz="1100" dirty="0"/>
          </a:p>
        </p:txBody>
      </p:sp>
      <p:sp>
        <p:nvSpPr>
          <p:cNvPr id="10" name="Text 8"/>
          <p:cNvSpPr/>
          <p:nvPr/>
        </p:nvSpPr>
        <p:spPr>
          <a:xfrm>
            <a:off x="6766560" y="2377440"/>
            <a:ext cx="3383280" cy="457200"/>
          </a:xfrm>
          <a:prstGeom prst="rect">
            <a:avLst/>
          </a:prstGeom>
          <a:noFill/>
          <a:ln/>
        </p:spPr>
        <p:txBody>
          <a:bodyPr wrap="square" rtlCol="0" anchor="ctr"/>
          <a:lstStyle/>
          <a:p>
            <a:pPr marL="0" indent="0">
              <a:buNone/>
            </a:pPr>
            <a:r>
              <a:rPr lang="en-US" sz="1200" dirty="0">
                <a:solidFill>
                  <a:srgbClr val="374151"/>
                </a:solidFill>
                <a:latin typeface="Arial" pitchFamily="34" charset="0"/>
                <a:ea typeface="Arial" pitchFamily="34" charset="-122"/>
                <a:cs typeface="Arial" pitchFamily="34" charset="-120"/>
              </a:rPr>
              <a:t>Locomotives, Passenger Cars, Freight Cars, Automobiles</a:t>
            </a:r>
            <a:endParaRPr lang="en-US" sz="1200" dirty="0"/>
          </a:p>
        </p:txBody>
      </p:sp>
      <p:sp>
        <p:nvSpPr>
          <p:cNvPr id="11" name="Text 9"/>
          <p:cNvSpPr/>
          <p:nvPr/>
        </p:nvSpPr>
        <p:spPr>
          <a:xfrm>
            <a:off x="9921240" y="2377440"/>
            <a:ext cx="1417320" cy="457200"/>
          </a:xfrm>
          <a:prstGeom prst="rect">
            <a:avLst/>
          </a:prstGeom>
          <a:noFill/>
          <a:ln/>
        </p:spPr>
        <p:txBody>
          <a:bodyPr wrap="square" rtlCol="0" anchor="ctr"/>
          <a:lstStyle/>
          <a:p>
            <a:pPr marL="0" indent="0" algn="r">
              <a:buNone/>
            </a:pPr>
            <a:r>
              <a:rPr lang="en-US" sz="1400" b="1" dirty="0">
                <a:solidFill>
                  <a:srgbClr val="0A1F44"/>
                </a:solidFill>
                <a:latin typeface="Arial" pitchFamily="34" charset="0"/>
                <a:ea typeface="Arial" pitchFamily="34" charset="-122"/>
                <a:cs typeface="Arial" pitchFamily="34" charset="-120"/>
              </a:rPr>
              <a:t>4 categories</a:t>
            </a:r>
            <a:endParaRPr lang="en-US" sz="1400" dirty="0"/>
          </a:p>
        </p:txBody>
      </p:sp>
      <p:sp>
        <p:nvSpPr>
          <p:cNvPr id="12" name="Text 10"/>
          <p:cNvSpPr/>
          <p:nvPr/>
        </p:nvSpPr>
        <p:spPr>
          <a:xfrm>
            <a:off x="6766560" y="2944368"/>
            <a:ext cx="3383280" cy="457200"/>
          </a:xfrm>
          <a:prstGeom prst="rect">
            <a:avLst/>
          </a:prstGeom>
          <a:noFill/>
          <a:ln/>
        </p:spPr>
        <p:txBody>
          <a:bodyPr wrap="square" rtlCol="0" anchor="ctr"/>
          <a:lstStyle/>
          <a:p>
            <a:pPr marL="0" indent="0">
              <a:buNone/>
            </a:pPr>
            <a:r>
              <a:rPr lang="en-US" sz="1200" dirty="0">
                <a:solidFill>
                  <a:srgbClr val="374151"/>
                </a:solidFill>
                <a:latin typeface="Arial" pitchFamily="34" charset="0"/>
                <a:ea typeface="Arial" pitchFamily="34" charset="-122"/>
                <a:cs typeface="Arial" pitchFamily="34" charset="-120"/>
              </a:rPr>
              <a:t>Unique inventory items evaluated</a:t>
            </a:r>
            <a:endParaRPr lang="en-US" sz="1200" dirty="0"/>
          </a:p>
        </p:txBody>
      </p:sp>
      <p:sp>
        <p:nvSpPr>
          <p:cNvPr id="13" name="Text 11"/>
          <p:cNvSpPr/>
          <p:nvPr/>
        </p:nvSpPr>
        <p:spPr>
          <a:xfrm>
            <a:off x="9921240" y="2944368"/>
            <a:ext cx="1417320" cy="457200"/>
          </a:xfrm>
          <a:prstGeom prst="rect">
            <a:avLst/>
          </a:prstGeom>
          <a:noFill/>
          <a:ln/>
        </p:spPr>
        <p:txBody>
          <a:bodyPr wrap="square" rtlCol="0" anchor="ctr"/>
          <a:lstStyle/>
          <a:p>
            <a:pPr marL="0" indent="0" algn="r">
              <a:buNone/>
            </a:pPr>
            <a:r>
              <a:rPr lang="en-US" sz="1400" b="1" dirty="0">
                <a:solidFill>
                  <a:srgbClr val="0A1F44"/>
                </a:solidFill>
                <a:latin typeface="Arial" pitchFamily="34" charset="0"/>
                <a:ea typeface="Arial" pitchFamily="34" charset="-122"/>
                <a:cs typeface="Arial" pitchFamily="34" charset="-120"/>
              </a:rPr>
              <a:t>827</a:t>
            </a:r>
            <a:endParaRPr lang="en-US" sz="1400" dirty="0"/>
          </a:p>
        </p:txBody>
      </p:sp>
      <p:sp>
        <p:nvSpPr>
          <p:cNvPr id="14" name="Text 12"/>
          <p:cNvSpPr/>
          <p:nvPr/>
        </p:nvSpPr>
        <p:spPr>
          <a:xfrm>
            <a:off x="6766560" y="3511296"/>
            <a:ext cx="3383280" cy="457200"/>
          </a:xfrm>
          <a:prstGeom prst="rect">
            <a:avLst/>
          </a:prstGeom>
          <a:noFill/>
          <a:ln/>
        </p:spPr>
        <p:txBody>
          <a:bodyPr wrap="square" rtlCol="0" anchor="ctr"/>
          <a:lstStyle/>
          <a:p>
            <a:pPr marL="0" indent="0">
              <a:buNone/>
            </a:pPr>
            <a:r>
              <a:rPr lang="en-US" sz="1200" dirty="0">
                <a:solidFill>
                  <a:srgbClr val="374151"/>
                </a:solidFill>
                <a:latin typeface="Arial" pitchFamily="34" charset="0"/>
                <a:ea typeface="Arial" pitchFamily="34" charset="-122"/>
                <a:cs typeface="Arial" pitchFamily="34" charset="-120"/>
              </a:rPr>
              <a:t>Gallery (reference) images</a:t>
            </a:r>
            <a:endParaRPr lang="en-US" sz="1200" dirty="0"/>
          </a:p>
        </p:txBody>
      </p:sp>
      <p:sp>
        <p:nvSpPr>
          <p:cNvPr id="15" name="Text 13"/>
          <p:cNvSpPr/>
          <p:nvPr/>
        </p:nvSpPr>
        <p:spPr>
          <a:xfrm>
            <a:off x="9921240" y="3511296"/>
            <a:ext cx="1417320" cy="457200"/>
          </a:xfrm>
          <a:prstGeom prst="rect">
            <a:avLst/>
          </a:prstGeom>
          <a:noFill/>
          <a:ln/>
        </p:spPr>
        <p:txBody>
          <a:bodyPr wrap="square" rtlCol="0" anchor="ctr"/>
          <a:lstStyle/>
          <a:p>
            <a:pPr marL="0" indent="0" algn="r">
              <a:buNone/>
            </a:pPr>
            <a:r>
              <a:rPr lang="en-US" sz="1400" b="1" dirty="0">
                <a:solidFill>
                  <a:srgbClr val="0A1F44"/>
                </a:solidFill>
                <a:latin typeface="Arial" pitchFamily="34" charset="0"/>
                <a:ea typeface="Arial" pitchFamily="34" charset="-122"/>
                <a:cs typeface="Arial" pitchFamily="34" charset="-120"/>
              </a:rPr>
              <a:t>3,308</a:t>
            </a:r>
            <a:endParaRPr lang="en-US" sz="1400" dirty="0"/>
          </a:p>
        </p:txBody>
      </p:sp>
      <p:sp>
        <p:nvSpPr>
          <p:cNvPr id="16" name="Text 14"/>
          <p:cNvSpPr/>
          <p:nvPr/>
        </p:nvSpPr>
        <p:spPr>
          <a:xfrm>
            <a:off x="6766560" y="4078224"/>
            <a:ext cx="3383280" cy="457200"/>
          </a:xfrm>
          <a:prstGeom prst="rect">
            <a:avLst/>
          </a:prstGeom>
          <a:noFill/>
          <a:ln/>
        </p:spPr>
        <p:txBody>
          <a:bodyPr wrap="square" rtlCol="0" anchor="ctr"/>
          <a:lstStyle/>
          <a:p>
            <a:pPr marL="0" indent="0">
              <a:buNone/>
            </a:pPr>
            <a:r>
              <a:rPr lang="en-US" sz="1200" dirty="0">
                <a:solidFill>
                  <a:srgbClr val="374151"/>
                </a:solidFill>
                <a:latin typeface="Arial" pitchFamily="34" charset="0"/>
                <a:ea typeface="Arial" pitchFamily="34" charset="-122"/>
                <a:cs typeface="Arial" pitchFamily="34" charset="-120"/>
              </a:rPr>
              <a:t>Query images (held-out, unseen)</a:t>
            </a:r>
            <a:endParaRPr lang="en-US" sz="1200" dirty="0"/>
          </a:p>
        </p:txBody>
      </p:sp>
      <p:sp>
        <p:nvSpPr>
          <p:cNvPr id="17" name="Text 15"/>
          <p:cNvSpPr/>
          <p:nvPr/>
        </p:nvSpPr>
        <p:spPr>
          <a:xfrm>
            <a:off x="9921240" y="4078224"/>
            <a:ext cx="1417320" cy="457200"/>
          </a:xfrm>
          <a:prstGeom prst="rect">
            <a:avLst/>
          </a:prstGeom>
          <a:noFill/>
          <a:ln/>
        </p:spPr>
        <p:txBody>
          <a:bodyPr wrap="square" rtlCol="0" anchor="ctr"/>
          <a:lstStyle/>
          <a:p>
            <a:pPr marL="0" indent="0" algn="r">
              <a:buNone/>
            </a:pPr>
            <a:r>
              <a:rPr lang="en-US" sz="1400" b="1" dirty="0">
                <a:solidFill>
                  <a:srgbClr val="0A1F44"/>
                </a:solidFill>
                <a:latin typeface="Arial" pitchFamily="34" charset="0"/>
                <a:ea typeface="Arial" pitchFamily="34" charset="-122"/>
                <a:cs typeface="Arial" pitchFamily="34" charset="-120"/>
              </a:rPr>
              <a:t>827</a:t>
            </a:r>
            <a:endParaRPr lang="en-US" sz="1400" dirty="0"/>
          </a:p>
        </p:txBody>
      </p:sp>
      <p:sp>
        <p:nvSpPr>
          <p:cNvPr id="18" name="Text 16"/>
          <p:cNvSpPr/>
          <p:nvPr/>
        </p:nvSpPr>
        <p:spPr>
          <a:xfrm>
            <a:off x="6766560" y="4645152"/>
            <a:ext cx="3383280" cy="457200"/>
          </a:xfrm>
          <a:prstGeom prst="rect">
            <a:avLst/>
          </a:prstGeom>
          <a:noFill/>
          <a:ln/>
        </p:spPr>
        <p:txBody>
          <a:bodyPr wrap="square" rtlCol="0" anchor="ctr"/>
          <a:lstStyle/>
          <a:p>
            <a:pPr marL="0" indent="0">
              <a:buNone/>
            </a:pPr>
            <a:r>
              <a:rPr lang="en-US" sz="1200" dirty="0">
                <a:solidFill>
                  <a:srgbClr val="374151"/>
                </a:solidFill>
                <a:latin typeface="Arial" pitchFamily="34" charset="0"/>
                <a:ea typeface="Arial" pitchFamily="34" charset="-122"/>
                <a:cs typeface="Arial" pitchFamily="34" charset="-120"/>
              </a:rPr>
              <a:t>Models benchmarked</a:t>
            </a:r>
            <a:endParaRPr lang="en-US" sz="1200" dirty="0"/>
          </a:p>
        </p:txBody>
      </p:sp>
      <p:sp>
        <p:nvSpPr>
          <p:cNvPr id="19" name="Text 17"/>
          <p:cNvSpPr/>
          <p:nvPr/>
        </p:nvSpPr>
        <p:spPr>
          <a:xfrm>
            <a:off x="9921240" y="4645152"/>
            <a:ext cx="1417320" cy="457200"/>
          </a:xfrm>
          <a:prstGeom prst="rect">
            <a:avLst/>
          </a:prstGeom>
          <a:noFill/>
          <a:ln/>
        </p:spPr>
        <p:txBody>
          <a:bodyPr wrap="square" rtlCol="0" anchor="ctr"/>
          <a:lstStyle/>
          <a:p>
            <a:pPr marL="0" indent="0" algn="r">
              <a:buNone/>
            </a:pPr>
            <a:r>
              <a:rPr lang="en-US" sz="1400" b="1" dirty="0">
                <a:solidFill>
                  <a:srgbClr val="0A1F44"/>
                </a:solidFill>
                <a:latin typeface="Arial" pitchFamily="34" charset="0"/>
                <a:ea typeface="Arial" pitchFamily="34" charset="-122"/>
                <a:cs typeface="Arial" pitchFamily="34" charset="-120"/>
              </a:rPr>
              <a:t>5</a:t>
            </a:r>
            <a:endParaRPr lang="en-US" sz="1400" dirty="0"/>
          </a:p>
        </p:txBody>
      </p:sp>
      <p:sp>
        <p:nvSpPr>
          <p:cNvPr id="20" name="Text 18"/>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Datix AI  |  Visual Search Model Evaluation</a:t>
            </a:r>
            <a:endParaRPr lang="en-US" sz="900" dirty="0"/>
          </a:p>
        </p:txBody>
      </p:sp>
      <p:sp>
        <p:nvSpPr>
          <p:cNvPr id="21" name="Text 19"/>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2B6CB0"/>
                </a:solidFill>
                <a:latin typeface="Arial" pitchFamily="34" charset="0"/>
                <a:ea typeface="Arial" pitchFamily="34" charset="-122"/>
                <a:cs typeface="Arial" pitchFamily="34" charset="-120"/>
              </a:rPr>
              <a:t>BENCHMARK RESULTS</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0A1F44"/>
                </a:solidFill>
                <a:latin typeface="Arial" pitchFamily="34" charset="0"/>
                <a:ea typeface="Arial" pitchFamily="34" charset="-122"/>
                <a:cs typeface="Arial" pitchFamily="34" charset="-120"/>
              </a:rPr>
              <a:t>Full comparison across all 5 models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3291840"/>
        </p:xfrm>
        <a:graphic>
          <a:graphicData uri="http://schemas.openxmlformats.org/drawingml/2006/table">
            <a:tbl>
              <a:tblPr/>
              <a:tblGrid>
                <a:gridCol w="27432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417320">
                  <a:extLst>
                    <a:ext uri="{9D8B030D-6E8A-4147-A177-3AD203B41FA5}">
                      <a16:colId xmlns:a16="http://schemas.microsoft.com/office/drawing/2014/main" val="20006"/>
                    </a:ext>
                  </a:extLst>
                </a:gridCol>
                <a:gridCol w="960120">
                  <a:extLst>
                    <a:ext uri="{9D8B030D-6E8A-4147-A177-3AD203B41FA5}">
                      <a16:colId xmlns:a16="http://schemas.microsoft.com/office/drawing/2014/main" val="20007"/>
                    </a:ext>
                  </a:extLst>
                </a:gridCol>
              </a:tblGrid>
              <a:tr h="548640">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Model</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A1F44"/>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Top-1 Acc.</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A1F44"/>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Top-3 Acc.</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A1F44"/>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MRR</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A1F44"/>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Embed. Dim</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A1F44"/>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Size (MB)</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A1F44"/>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Speed (ms/img)</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A1F44"/>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Cost /1K (T4)</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A1F44"/>
                    </a:solidFill>
                  </a:tcPr>
                </a:tc>
                <a:extLst>
                  <a:ext uri="{0D108BD9-81ED-4DB2-BD59-A6C34878D82A}">
                    <a16:rowId xmlns:a16="http://schemas.microsoft.com/office/drawing/2014/main" val="10000"/>
                  </a:ext>
                </a:extLst>
              </a:tr>
              <a:tr h="548640">
                <a:tc>
                  <a:txBody>
                    <a:bodyPr/>
                    <a:lstStyle/>
                    <a:p>
                      <a:pPr marL="0" indent="0">
                        <a:buNone/>
                      </a:pPr>
                      <a:r>
                        <a:rPr lang="en-US" sz="1150" dirty="0">
                          <a:solidFill>
                            <a:srgbClr val="1F2937"/>
                          </a:solidFill>
                          <a:latin typeface="Arial" pitchFamily="34" charset="0"/>
                          <a:ea typeface="Arial" pitchFamily="34" charset="-122"/>
                          <a:cs typeface="Arial" pitchFamily="34" charset="-120"/>
                        </a:rPr>
                        <a:t>SigLIP Base</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94.0%</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99.5%</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0.967</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768</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775</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14.24</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$0.0032</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150" dirty="0">
                          <a:solidFill>
                            <a:srgbClr val="1F2937"/>
                          </a:solidFill>
                          <a:latin typeface="Arial" pitchFamily="34" charset="0"/>
                          <a:ea typeface="Arial" pitchFamily="34" charset="-122"/>
                          <a:cs typeface="Arial" pitchFamily="34" charset="-120"/>
                        </a:rPr>
                        <a:t>DINOv2 Base</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94.0%</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99.4%</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0.967</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768</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330</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18.13</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$0.0041</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extLst>
                  <a:ext uri="{0D108BD9-81ED-4DB2-BD59-A6C34878D82A}">
                    <a16:rowId xmlns:a16="http://schemas.microsoft.com/office/drawing/2014/main" val="10002"/>
                  </a:ext>
                </a:extLst>
              </a:tr>
              <a:tr h="548640">
                <a:tc>
                  <a:txBody>
                    <a:bodyPr/>
                    <a:lstStyle/>
                    <a:p>
                      <a:pPr marL="0" indent="0">
                        <a:buNone/>
                      </a:pPr>
                      <a:r>
                        <a:rPr lang="en-US" sz="1150" b="1" dirty="0">
                          <a:solidFill>
                            <a:srgbClr val="16A34A"/>
                          </a:solidFill>
                          <a:latin typeface="Arial" pitchFamily="34" charset="0"/>
                          <a:ea typeface="Arial" pitchFamily="34" charset="-122"/>
                          <a:cs typeface="Arial" pitchFamily="34" charset="-120"/>
                        </a:rPr>
                        <a:t>OpenCLIP ViT-B/32  ★</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E8F5E9"/>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93.5%</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E8F5E9"/>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99.4%</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E8F5E9"/>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0.963</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E8F5E9"/>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512</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E8F5E9"/>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577</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E8F5E9"/>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5.33</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E8F5E9"/>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$0.0012</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E8F5E9"/>
                    </a:solidFill>
                  </a:tcPr>
                </a:tc>
                <a:extLst>
                  <a:ext uri="{0D108BD9-81ED-4DB2-BD59-A6C34878D82A}">
                    <a16:rowId xmlns:a16="http://schemas.microsoft.com/office/drawing/2014/main" val="10003"/>
                  </a:ext>
                </a:extLst>
              </a:tr>
              <a:tr h="548640">
                <a:tc>
                  <a:txBody>
                    <a:bodyPr/>
                    <a:lstStyle/>
                    <a:p>
                      <a:pPr marL="0" indent="0">
                        <a:buNone/>
                      </a:pPr>
                      <a:r>
                        <a:rPr lang="en-US" sz="1150" dirty="0">
                          <a:solidFill>
                            <a:srgbClr val="1F2937"/>
                          </a:solidFill>
                          <a:latin typeface="Arial" pitchFamily="34" charset="0"/>
                          <a:ea typeface="Arial" pitchFamily="34" charset="-122"/>
                          <a:cs typeface="Arial" pitchFamily="34" charset="-120"/>
                        </a:rPr>
                        <a:t>CLIP ViT-B/32</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92.5%</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99.0%</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0.958</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512</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577</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5.30</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$0.0012</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extLst>
                  <a:ext uri="{0D108BD9-81ED-4DB2-BD59-A6C34878D82A}">
                    <a16:rowId xmlns:a16="http://schemas.microsoft.com/office/drawing/2014/main" val="10004"/>
                  </a:ext>
                </a:extLst>
              </a:tr>
              <a:tr h="548640">
                <a:tc>
                  <a:txBody>
                    <a:bodyPr/>
                    <a:lstStyle/>
                    <a:p>
                      <a:pPr marL="0" indent="0">
                        <a:buNone/>
                      </a:pPr>
                      <a:r>
                        <a:rPr lang="en-US" sz="1150" dirty="0">
                          <a:solidFill>
                            <a:srgbClr val="1F2937"/>
                          </a:solidFill>
                          <a:latin typeface="Arial" pitchFamily="34" charset="0"/>
                          <a:ea typeface="Arial" pitchFamily="34" charset="-122"/>
                          <a:cs typeface="Arial" pitchFamily="34" charset="-120"/>
                        </a:rPr>
                        <a:t>YOLO-World</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52.0%</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62.9%</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0.592</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512</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49</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14.48</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00000"/>
                          </a:solidFill>
                          <a:latin typeface="Arial" pitchFamily="34" charset="0"/>
                          <a:ea typeface="Arial" pitchFamily="34" charset="-122"/>
                          <a:cs typeface="Arial" pitchFamily="34" charset="-120"/>
                        </a:rPr>
                        <a:t>$0.0033</a:t>
                      </a:r>
                      <a:endParaRPr lang="en-US" sz="1150" dirty="0">
                        <a:latin typeface="Arial" charset="0"/>
                        <a:ea typeface="Arial" charset="0"/>
                        <a:cs typeface="Arial"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Text 2"/>
          <p:cNvSpPr/>
          <p:nvPr/>
        </p:nvSpPr>
        <p:spPr>
          <a:xfrm>
            <a:off x="548640" y="5166360"/>
            <a:ext cx="11064240" cy="365760"/>
          </a:xfrm>
          <a:prstGeom prst="rect">
            <a:avLst/>
          </a:prstGeom>
          <a:noFill/>
          <a:ln/>
        </p:spPr>
        <p:txBody>
          <a:bodyPr wrap="square" rtlCol="0" anchor="ctr"/>
          <a:lstStyle/>
          <a:p>
            <a:pPr marL="0" indent="0">
              <a:buNone/>
            </a:pPr>
            <a:r>
              <a:rPr lang="en-US" sz="1200" i="1" dirty="0">
                <a:solidFill>
                  <a:srgbClr val="6B7280"/>
                </a:solidFill>
                <a:latin typeface="Arial" pitchFamily="34" charset="0"/>
                <a:ea typeface="Arial" pitchFamily="34" charset="-122"/>
                <a:cs typeface="Arial" pitchFamily="34" charset="-120"/>
              </a:rPr>
              <a:t>★  OpenCLIP ViT-B/32 (LAION) is the recommended model — near-top accuracy at the lowest cost and fastest speed.</a:t>
            </a:r>
            <a:endParaRPr lang="en-US" sz="1200" dirty="0"/>
          </a:p>
        </p:txBody>
      </p:sp>
      <p:sp>
        <p:nvSpPr>
          <p:cNvPr id="6" name="Text 3"/>
          <p:cNvSpPr/>
          <p:nvPr/>
        </p:nvSpPr>
        <p:spPr>
          <a:xfrm>
            <a:off x="548640" y="5623560"/>
            <a:ext cx="11064240" cy="457200"/>
          </a:xfrm>
          <a:prstGeom prst="rect">
            <a:avLst/>
          </a:prstGeom>
          <a:noFill/>
          <a:ln/>
        </p:spPr>
        <p:txBody>
          <a:bodyPr wrap="square" rtlCol="0" anchor="ctr"/>
          <a:lstStyle/>
          <a:p>
            <a:pPr marL="0" indent="0">
              <a:buNone/>
            </a:pPr>
            <a:r>
              <a:rPr lang="en-US" sz="1050" dirty="0">
                <a:solidFill>
                  <a:srgbClr val="9CA3AF"/>
                </a:solidFill>
                <a:latin typeface="Arial" pitchFamily="34" charset="0"/>
                <a:ea typeface="Arial" pitchFamily="34" charset="-122"/>
                <a:cs typeface="Arial" pitchFamily="34" charset="-120"/>
              </a:rPr>
              <a:t>Note: YOLO-World is an open-vocabulary object detector, not an embedding model — included for a fair, complete comparison rather than assumed to underperform without testing.</a:t>
            </a:r>
            <a:endParaRPr lang="en-US" sz="1050" dirty="0"/>
          </a:p>
        </p:txBody>
      </p:sp>
      <p:sp>
        <p:nvSpPr>
          <p:cNvPr id="7" name="Text 4"/>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Datix AI  |  Visual Search Model Evaluation</a:t>
            </a:r>
            <a:endParaRPr lang="en-US" sz="900" dirty="0"/>
          </a:p>
        </p:txBody>
      </p:sp>
      <p:sp>
        <p:nvSpPr>
          <p:cNvPr id="8" name="Text 5"/>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2B6CB0"/>
                </a:solidFill>
                <a:latin typeface="Arial" pitchFamily="34" charset="0"/>
                <a:ea typeface="Arial" pitchFamily="34" charset="-122"/>
                <a:cs typeface="Arial" pitchFamily="34" charset="-120"/>
              </a:rPr>
              <a:t>ACCURACY</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0A1F44"/>
                </a:solidFill>
                <a:latin typeface="Arial" pitchFamily="34" charset="0"/>
                <a:ea typeface="Arial" pitchFamily="34" charset="-122"/>
                <a:cs typeface="Arial" pitchFamily="34" charset="-120"/>
              </a:rPr>
              <a:t>Top-1 and Top-3 retrieval accuracy</a:t>
            </a:r>
            <a:endParaRPr lang="en-US" sz="3000" dirty="0"/>
          </a:p>
        </p:txBody>
      </p:sp>
      <p:graphicFrame>
        <p:nvGraphicFramePr>
          <p:cNvPr id="4" name="Chart 0"/>
          <p:cNvGraphicFramePr/>
          <p:nvPr/>
        </p:nvGraphicFramePr>
        <p:xfrm>
          <a:off x="548640" y="1554480"/>
          <a:ext cx="110642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Datix AI  |  Visual Search Model Evaluation</a:t>
            </a:r>
            <a:endParaRPr lang="en-US" sz="900" dirty="0"/>
          </a:p>
        </p:txBody>
      </p:sp>
      <p:sp>
        <p:nvSpPr>
          <p:cNvPr id="6" name="Text 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2B6CB0"/>
                </a:solidFill>
                <a:latin typeface="Arial" pitchFamily="34" charset="0"/>
                <a:ea typeface="Arial" pitchFamily="34" charset="-122"/>
                <a:cs typeface="Arial" pitchFamily="34" charset="-120"/>
              </a:rPr>
              <a:t>EFFICIENCY</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0A1F44"/>
                </a:solidFill>
                <a:latin typeface="Arial" pitchFamily="34" charset="0"/>
                <a:ea typeface="Arial" pitchFamily="34" charset="-122"/>
                <a:cs typeface="Arial" pitchFamily="34" charset="-120"/>
              </a:rPr>
              <a:t>Inference speed and model footprint</a:t>
            </a:r>
            <a:endParaRPr lang="en-US" sz="3000" dirty="0"/>
          </a:p>
        </p:txBody>
      </p:sp>
      <p:graphicFrame>
        <p:nvGraphicFramePr>
          <p:cNvPr id="4" name="Chart 0"/>
          <p:cNvGraphicFramePr/>
          <p:nvPr/>
        </p:nvGraphicFramePr>
        <p:xfrm>
          <a:off x="457200" y="1554480"/>
          <a:ext cx="5394960" cy="4663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6263640" y="1554480"/>
          <a:ext cx="5394960" cy="466344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2"/>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Datix AI  |  Visual Search Model Evaluation</a:t>
            </a:r>
            <a:endParaRPr lang="en-US" sz="900" dirty="0"/>
          </a:p>
        </p:txBody>
      </p:sp>
      <p:sp>
        <p:nvSpPr>
          <p:cNvPr id="7" name="Text 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2B6CB0"/>
                </a:solidFill>
                <a:latin typeface="Arial" pitchFamily="34" charset="0"/>
                <a:ea typeface="Arial" pitchFamily="34" charset="-122"/>
                <a:cs typeface="Arial" pitchFamily="34" charset="-120"/>
              </a:rPr>
              <a:t>BUDGET PLANNING</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0A1F44"/>
                </a:solidFill>
                <a:latin typeface="Arial" pitchFamily="34" charset="0"/>
                <a:ea typeface="Arial" pitchFamily="34" charset="-122"/>
                <a:cs typeface="Arial" pitchFamily="34" charset="-120"/>
              </a:rPr>
              <a:t>Estimated cost per 1,000 image searches</a:t>
            </a:r>
            <a:endParaRPr lang="en-US" sz="3000" dirty="0"/>
          </a:p>
        </p:txBody>
      </p:sp>
      <p:graphicFrame>
        <p:nvGraphicFramePr>
          <p:cNvPr id="4" name="Chart 0"/>
          <p:cNvGraphicFramePr/>
          <p:nvPr/>
        </p:nvGraphicFramePr>
        <p:xfrm>
          <a:off x="548640" y="1508760"/>
          <a:ext cx="73152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138160" y="1508760"/>
            <a:ext cx="3520440" cy="4480560"/>
          </a:xfrm>
          <a:prstGeom prst="rect">
            <a:avLst/>
          </a:prstGeom>
          <a:solidFill>
            <a:srgbClr val="F3F4F6"/>
          </a:solidFill>
          <a:ln/>
        </p:spPr>
      </p:sp>
      <p:sp>
        <p:nvSpPr>
          <p:cNvPr id="6" name="Text 3"/>
          <p:cNvSpPr/>
          <p:nvPr/>
        </p:nvSpPr>
        <p:spPr>
          <a:xfrm>
            <a:off x="8412480" y="1783080"/>
            <a:ext cx="2971800" cy="320040"/>
          </a:xfrm>
          <a:prstGeom prst="rect">
            <a:avLst/>
          </a:prstGeom>
          <a:noFill/>
          <a:ln/>
        </p:spPr>
        <p:txBody>
          <a:bodyPr wrap="square" rtlCol="0" anchor="ctr"/>
          <a:lstStyle/>
          <a:p>
            <a:pPr marL="0" indent="0">
              <a:buNone/>
            </a:pPr>
            <a:r>
              <a:rPr lang="en-US" sz="1100" b="1" kern="0" spc="100" dirty="0">
                <a:solidFill>
                  <a:srgbClr val="2B6CB0"/>
                </a:solidFill>
                <a:latin typeface="Arial" pitchFamily="34" charset="0"/>
                <a:ea typeface="Arial" pitchFamily="34" charset="-122"/>
                <a:cs typeface="Arial" pitchFamily="34" charset="-120"/>
              </a:rPr>
              <a:t>READING THIS CHART</a:t>
            </a:r>
            <a:endParaRPr lang="en-US" sz="1100" dirty="0"/>
          </a:p>
        </p:txBody>
      </p:sp>
      <p:sp>
        <p:nvSpPr>
          <p:cNvPr id="7" name="Text 4"/>
          <p:cNvSpPr/>
          <p:nvPr/>
        </p:nvSpPr>
        <p:spPr>
          <a:xfrm>
            <a:off x="8412480" y="2240280"/>
            <a:ext cx="2971800" cy="3566160"/>
          </a:xfrm>
          <a:prstGeom prst="rect">
            <a:avLst/>
          </a:prstGeom>
          <a:noFill/>
          <a:ln/>
        </p:spPr>
        <p:txBody>
          <a:bodyPr wrap="square" rtlCol="0" anchor="ctr"/>
          <a:lstStyle/>
          <a:p>
            <a:pPr marL="0" indent="0">
              <a:lnSpc>
                <a:spcPct val="130000"/>
              </a:lnSpc>
              <a:buNone/>
            </a:pPr>
            <a:r>
              <a:rPr lang="en-US" sz="1200" b="1" dirty="0">
                <a:solidFill>
                  <a:srgbClr val="0A1F44"/>
                </a:solidFill>
                <a:latin typeface="Arial" pitchFamily="34" charset="0"/>
                <a:ea typeface="Arial" pitchFamily="34" charset="-122"/>
                <a:cs typeface="Arial" pitchFamily="34" charset="-120"/>
              </a:rPr>
              <a:t>At this scale, cost is not the deciding factor — </a:t>
            </a:r>
            <a:r>
              <a:rPr lang="en-US" sz="1200" dirty="0">
                <a:solidFill>
                  <a:srgbClr val="374151"/>
                </a:solidFill>
                <a:latin typeface="Arial" pitchFamily="34" charset="0"/>
                <a:ea typeface="Arial" pitchFamily="34" charset="-122"/>
                <a:cs typeface="Arial" pitchFamily="34" charset="-120"/>
              </a:rPr>
              <a:t>every model costs well under a cent per 1,000 searches, even on the priciest GPU tier.
</a:t>
            </a:r>
            <a:r>
              <a:rPr lang="en-US" sz="1200" b="1" dirty="0">
                <a:solidFill>
                  <a:srgbClr val="16A34A"/>
                </a:solidFill>
                <a:latin typeface="Arial" pitchFamily="34" charset="0"/>
                <a:ea typeface="Arial" pitchFamily="34" charset="-122"/>
                <a:cs typeface="Arial" pitchFamily="34" charset="-120"/>
              </a:rPr>
              <a:t>OpenCLIP and CLIP are the cheapest AND fastest </a:t>
            </a:r>
            <a:r>
              <a:rPr lang="en-US" sz="1200" dirty="0">
                <a:solidFill>
                  <a:srgbClr val="374151"/>
                </a:solidFill>
                <a:latin typeface="Arial" pitchFamily="34" charset="0"/>
                <a:ea typeface="Arial" pitchFamily="34" charset="-122"/>
                <a:cs typeface="Arial" pitchFamily="34" charset="-120"/>
              </a:rPr>
              <a:t>— a direct result of their smaller 512-dimension embeddings and lower patch-token count per image.
</a:t>
            </a:r>
            <a:r>
              <a:rPr lang="en-US" sz="1200" b="1" dirty="0">
                <a:solidFill>
                  <a:srgbClr val="0A1F44"/>
                </a:solidFill>
                <a:latin typeface="Arial" pitchFamily="34" charset="0"/>
                <a:ea typeface="Arial" pitchFamily="34" charset="-122"/>
                <a:cs typeface="Arial" pitchFamily="34" charset="-120"/>
              </a:rPr>
              <a:t>Recommended tier: T4 </a:t>
            </a:r>
            <a:r>
              <a:rPr lang="en-US" sz="1200" dirty="0">
                <a:solidFill>
                  <a:srgbClr val="374151"/>
                </a:solidFill>
                <a:latin typeface="Arial" pitchFamily="34" charset="0"/>
                <a:ea typeface="Arial" pitchFamily="34" charset="-122"/>
                <a:cs typeface="Arial" pitchFamily="34" charset="-120"/>
              </a:rPr>
              <a:t>is more than sufficient for this workload — no need to pay for A100/H100 pricing for image search alone.</a:t>
            </a:r>
            <a:endParaRPr lang="en-US" sz="1200" dirty="0"/>
          </a:p>
        </p:txBody>
      </p:sp>
      <p:sp>
        <p:nvSpPr>
          <p:cNvPr id="8" name="Text 5"/>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Datix AI  |  Visual Search Model Evaluation</a:t>
            </a:r>
            <a:endParaRPr lang="en-US" sz="900" dirty="0"/>
          </a:p>
        </p:txBody>
      </p:sp>
      <p:sp>
        <p:nvSpPr>
          <p:cNvPr id="9" name="Text 6"/>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2B6CB0"/>
                </a:solidFill>
                <a:latin typeface="Arial" pitchFamily="34" charset="0"/>
                <a:ea typeface="Arial" pitchFamily="34" charset="-122"/>
                <a:cs typeface="Arial" pitchFamily="34" charset="-120"/>
              </a:rPr>
              <a:t>OVERALL COMPARISON</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0A1F44"/>
                </a:solidFill>
                <a:latin typeface="Arial" pitchFamily="34" charset="0"/>
                <a:ea typeface="Arial" pitchFamily="34" charset="-122"/>
                <a:cs typeface="Arial" pitchFamily="34" charset="-120"/>
              </a:rPr>
              <a:t>Balancing accuracy, speed, size, and cost</a:t>
            </a:r>
            <a:endParaRPr lang="en-US" sz="3000" dirty="0"/>
          </a:p>
        </p:txBody>
      </p:sp>
      <p:graphicFrame>
        <p:nvGraphicFramePr>
          <p:cNvPr id="4" name="Chart 0"/>
          <p:cNvGraphicFramePr/>
          <p:nvPr/>
        </p:nvGraphicFramePr>
        <p:xfrm>
          <a:off x="1828800" y="1325880"/>
          <a:ext cx="8503920"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48640" y="6172200"/>
            <a:ext cx="11064240" cy="457200"/>
          </a:xfrm>
          <a:prstGeom prst="rect">
            <a:avLst/>
          </a:prstGeom>
          <a:noFill/>
          <a:ln/>
        </p:spPr>
        <p:txBody>
          <a:bodyPr wrap="square" rtlCol="0" anchor="ctr"/>
          <a:lstStyle/>
          <a:p>
            <a:pPr marL="0" indent="0">
              <a:buNone/>
            </a:pPr>
            <a:r>
              <a:rPr lang="en-US" sz="1050" i="1" dirty="0">
                <a:solidFill>
                  <a:srgbClr val="6B7280"/>
                </a:solidFill>
                <a:latin typeface="Arial" pitchFamily="34" charset="0"/>
                <a:ea typeface="Arial" pitchFamily="34" charset="-122"/>
                <a:cs typeface="Arial" pitchFamily="34" charset="-120"/>
              </a:rPr>
              <a:t>CLIP and OpenCLIP overlap almost completely on this chart — both share the same base architecture, so their size, speed, and cost profiles are nearly identical. OpenCLIP edges ahead purely on accuracy.</a:t>
            </a:r>
            <a:endParaRPr lang="en-US" sz="1050" dirty="0"/>
          </a:p>
        </p:txBody>
      </p:sp>
      <p:sp>
        <p:nvSpPr>
          <p:cNvPr id="6" name="Text 3"/>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Datix AI  |  Visual Search Model Evaluation</a:t>
            </a:r>
            <a:endParaRPr lang="en-US" sz="900" dirty="0"/>
          </a:p>
        </p:txBody>
      </p:sp>
      <p:sp>
        <p:nvSpPr>
          <p:cNvPr id="7" name="Text 4"/>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F44"/>
        </a:solidFill>
        <a:effectLst/>
      </p:bgPr>
    </p:bg>
    <p:spTree>
      <p:nvGrpSpPr>
        <p:cNvPr id="1" name=""/>
        <p:cNvGrpSpPr/>
        <p:nvPr/>
      </p:nvGrpSpPr>
      <p:grpSpPr>
        <a:xfrm>
          <a:off x="0" y="0"/>
          <a:ext cx="0" cy="0"/>
          <a:chOff x="0" y="0"/>
          <a:chExt cx="0" cy="0"/>
        </a:xfrm>
      </p:grpSpPr>
      <p:sp>
        <p:nvSpPr>
          <p:cNvPr id="2" name="Text 0"/>
          <p:cNvSpPr/>
          <p:nvPr/>
        </p:nvSpPr>
        <p:spPr>
          <a:xfrm>
            <a:off x="822960" y="640080"/>
            <a:ext cx="7315200" cy="365760"/>
          </a:xfrm>
          <a:prstGeom prst="rect">
            <a:avLst/>
          </a:prstGeom>
          <a:noFill/>
          <a:ln/>
        </p:spPr>
        <p:txBody>
          <a:bodyPr wrap="square" rtlCol="0" anchor="ctr"/>
          <a:lstStyle/>
          <a:p>
            <a:pPr marL="0" indent="0">
              <a:buNone/>
            </a:pPr>
            <a:r>
              <a:rPr lang="en-US" sz="1300" b="1" kern="0" spc="300" dirty="0">
                <a:solidFill>
                  <a:srgbClr val="3B82F6"/>
                </a:solidFill>
                <a:latin typeface="Arial" pitchFamily="34" charset="0"/>
                <a:ea typeface="Arial" pitchFamily="34" charset="-122"/>
                <a:cs typeface="Arial" pitchFamily="34" charset="-120"/>
              </a:rPr>
              <a:t>RECOMMENDATION</a:t>
            </a:r>
            <a:endParaRPr lang="en-US" sz="1300" dirty="0"/>
          </a:p>
        </p:txBody>
      </p:sp>
      <p:sp>
        <p:nvSpPr>
          <p:cNvPr id="3" name="Text 1"/>
          <p:cNvSpPr/>
          <p:nvPr/>
        </p:nvSpPr>
        <p:spPr>
          <a:xfrm>
            <a:off x="822960" y="1051560"/>
            <a:ext cx="10058400" cy="822960"/>
          </a:xfrm>
          <a:prstGeom prst="rect">
            <a:avLst/>
          </a:prstGeom>
          <a:noFill/>
          <a:ln/>
        </p:spPr>
        <p:txBody>
          <a:bodyPr wrap="square" rtlCol="0" anchor="ctr"/>
          <a:lstStyle/>
          <a:p>
            <a:pPr marL="0" indent="0">
              <a:buNone/>
            </a:pPr>
            <a:r>
              <a:rPr lang="en-US" sz="3400" b="1" dirty="0">
                <a:solidFill>
                  <a:srgbClr val="FFFFFF"/>
                </a:solidFill>
                <a:latin typeface="Arial" pitchFamily="34" charset="0"/>
                <a:ea typeface="Arial" pitchFamily="34" charset="-122"/>
                <a:cs typeface="Arial" pitchFamily="34" charset="-120"/>
              </a:rPr>
              <a:t>OpenCLIP ViT-B/32 (LAION-2B)</a:t>
            </a:r>
            <a:endParaRPr lang="en-US" sz="3400" dirty="0"/>
          </a:p>
        </p:txBody>
      </p:sp>
      <p:sp>
        <p:nvSpPr>
          <p:cNvPr id="4" name="Text 2"/>
          <p:cNvSpPr/>
          <p:nvPr/>
        </p:nvSpPr>
        <p:spPr>
          <a:xfrm>
            <a:off x="822960" y="2194560"/>
            <a:ext cx="2377440" cy="548640"/>
          </a:xfrm>
          <a:prstGeom prst="rect">
            <a:avLst/>
          </a:prstGeom>
          <a:noFill/>
          <a:ln/>
        </p:spPr>
        <p:txBody>
          <a:bodyPr wrap="square" rtlCol="0" anchor="ctr"/>
          <a:lstStyle/>
          <a:p>
            <a:pPr marL="0" indent="0">
              <a:buNone/>
            </a:pPr>
            <a:r>
              <a:rPr lang="en-US" sz="2400" b="1" dirty="0">
                <a:solidFill>
                  <a:srgbClr val="3B82F6"/>
                </a:solidFill>
                <a:latin typeface="Arial" pitchFamily="34" charset="0"/>
                <a:ea typeface="Arial" pitchFamily="34" charset="-122"/>
                <a:cs typeface="Arial" pitchFamily="34" charset="-120"/>
              </a:rPr>
              <a:t>93.5%</a:t>
            </a:r>
            <a:endParaRPr lang="en-US" sz="2400" dirty="0"/>
          </a:p>
        </p:txBody>
      </p:sp>
      <p:sp>
        <p:nvSpPr>
          <p:cNvPr id="5" name="Text 3"/>
          <p:cNvSpPr/>
          <p:nvPr/>
        </p:nvSpPr>
        <p:spPr>
          <a:xfrm>
            <a:off x="822960" y="2743200"/>
            <a:ext cx="2377440" cy="365760"/>
          </a:xfrm>
          <a:prstGeom prst="rect">
            <a:avLst/>
          </a:prstGeom>
          <a:noFill/>
          <a:ln/>
        </p:spPr>
        <p:txBody>
          <a:bodyPr wrap="square" rtlCol="0" anchor="ctr"/>
          <a:lstStyle/>
          <a:p>
            <a:pPr marL="0" indent="0">
              <a:buNone/>
            </a:pPr>
            <a:r>
              <a:rPr lang="en-US" sz="1100" dirty="0">
                <a:solidFill>
                  <a:srgbClr val="AEB9CC"/>
                </a:solidFill>
                <a:latin typeface="Arial" pitchFamily="34" charset="0"/>
                <a:ea typeface="Arial" pitchFamily="34" charset="-122"/>
                <a:cs typeface="Arial" pitchFamily="34" charset="-120"/>
              </a:rPr>
              <a:t>Top-1 accuracy</a:t>
            </a:r>
            <a:endParaRPr lang="en-US" sz="1100" dirty="0"/>
          </a:p>
        </p:txBody>
      </p:sp>
      <p:sp>
        <p:nvSpPr>
          <p:cNvPr id="6" name="Text 4"/>
          <p:cNvSpPr/>
          <p:nvPr/>
        </p:nvSpPr>
        <p:spPr>
          <a:xfrm>
            <a:off x="3429000" y="2194560"/>
            <a:ext cx="2377440" cy="548640"/>
          </a:xfrm>
          <a:prstGeom prst="rect">
            <a:avLst/>
          </a:prstGeom>
          <a:noFill/>
          <a:ln/>
        </p:spPr>
        <p:txBody>
          <a:bodyPr wrap="square" rtlCol="0" anchor="ctr"/>
          <a:lstStyle/>
          <a:p>
            <a:pPr marL="0" indent="0">
              <a:buNone/>
            </a:pPr>
            <a:r>
              <a:rPr lang="en-US" sz="2400" b="1" dirty="0">
                <a:solidFill>
                  <a:srgbClr val="3B82F6"/>
                </a:solidFill>
                <a:latin typeface="Arial" pitchFamily="34" charset="0"/>
                <a:ea typeface="Arial" pitchFamily="34" charset="-122"/>
                <a:cs typeface="Arial" pitchFamily="34" charset="-120"/>
              </a:rPr>
              <a:t>99.4%</a:t>
            </a:r>
            <a:endParaRPr lang="en-US" sz="2400" dirty="0"/>
          </a:p>
        </p:txBody>
      </p:sp>
      <p:sp>
        <p:nvSpPr>
          <p:cNvPr id="7" name="Text 5"/>
          <p:cNvSpPr/>
          <p:nvPr/>
        </p:nvSpPr>
        <p:spPr>
          <a:xfrm>
            <a:off x="3429000" y="2743200"/>
            <a:ext cx="2377440" cy="365760"/>
          </a:xfrm>
          <a:prstGeom prst="rect">
            <a:avLst/>
          </a:prstGeom>
          <a:noFill/>
          <a:ln/>
        </p:spPr>
        <p:txBody>
          <a:bodyPr wrap="square" rtlCol="0" anchor="ctr"/>
          <a:lstStyle/>
          <a:p>
            <a:pPr marL="0" indent="0">
              <a:buNone/>
            </a:pPr>
            <a:r>
              <a:rPr lang="en-US" sz="1100" dirty="0">
                <a:solidFill>
                  <a:srgbClr val="AEB9CC"/>
                </a:solidFill>
                <a:latin typeface="Arial" pitchFamily="34" charset="0"/>
                <a:ea typeface="Arial" pitchFamily="34" charset="-122"/>
                <a:cs typeface="Arial" pitchFamily="34" charset="-120"/>
              </a:rPr>
              <a:t>Top-3 accuracy</a:t>
            </a:r>
            <a:endParaRPr lang="en-US" sz="1100" dirty="0"/>
          </a:p>
        </p:txBody>
      </p:sp>
      <p:sp>
        <p:nvSpPr>
          <p:cNvPr id="8" name="Text 6"/>
          <p:cNvSpPr/>
          <p:nvPr/>
        </p:nvSpPr>
        <p:spPr>
          <a:xfrm>
            <a:off x="6035040" y="2194560"/>
            <a:ext cx="2377440" cy="548640"/>
          </a:xfrm>
          <a:prstGeom prst="rect">
            <a:avLst/>
          </a:prstGeom>
          <a:noFill/>
          <a:ln/>
        </p:spPr>
        <p:txBody>
          <a:bodyPr wrap="square" rtlCol="0" anchor="ctr"/>
          <a:lstStyle/>
          <a:p>
            <a:pPr marL="0" indent="0">
              <a:buNone/>
            </a:pPr>
            <a:r>
              <a:rPr lang="en-US" sz="2400" b="1" dirty="0">
                <a:solidFill>
                  <a:srgbClr val="3B82F6"/>
                </a:solidFill>
                <a:latin typeface="Arial" pitchFamily="34" charset="0"/>
                <a:ea typeface="Arial" pitchFamily="34" charset="-122"/>
                <a:cs typeface="Arial" pitchFamily="34" charset="-120"/>
              </a:rPr>
              <a:t>5.3 ms</a:t>
            </a:r>
            <a:endParaRPr lang="en-US" sz="2400" dirty="0"/>
          </a:p>
        </p:txBody>
      </p:sp>
      <p:sp>
        <p:nvSpPr>
          <p:cNvPr id="9" name="Text 7"/>
          <p:cNvSpPr/>
          <p:nvPr/>
        </p:nvSpPr>
        <p:spPr>
          <a:xfrm>
            <a:off x="6035040" y="2743200"/>
            <a:ext cx="2377440" cy="365760"/>
          </a:xfrm>
          <a:prstGeom prst="rect">
            <a:avLst/>
          </a:prstGeom>
          <a:noFill/>
          <a:ln/>
        </p:spPr>
        <p:txBody>
          <a:bodyPr wrap="square" rtlCol="0" anchor="ctr"/>
          <a:lstStyle/>
          <a:p>
            <a:pPr marL="0" indent="0">
              <a:buNone/>
            </a:pPr>
            <a:r>
              <a:rPr lang="en-US" sz="1100" dirty="0">
                <a:solidFill>
                  <a:srgbClr val="AEB9CC"/>
                </a:solidFill>
                <a:latin typeface="Arial" pitchFamily="34" charset="0"/>
                <a:ea typeface="Arial" pitchFamily="34" charset="-122"/>
                <a:cs typeface="Arial" pitchFamily="34" charset="-120"/>
              </a:rPr>
              <a:t>per image search</a:t>
            </a:r>
            <a:endParaRPr lang="en-US" sz="1100" dirty="0"/>
          </a:p>
        </p:txBody>
      </p:sp>
      <p:sp>
        <p:nvSpPr>
          <p:cNvPr id="10" name="Text 8"/>
          <p:cNvSpPr/>
          <p:nvPr/>
        </p:nvSpPr>
        <p:spPr>
          <a:xfrm>
            <a:off x="8641080" y="2194560"/>
            <a:ext cx="2377440" cy="548640"/>
          </a:xfrm>
          <a:prstGeom prst="rect">
            <a:avLst/>
          </a:prstGeom>
          <a:noFill/>
          <a:ln/>
        </p:spPr>
        <p:txBody>
          <a:bodyPr wrap="square" rtlCol="0" anchor="ctr"/>
          <a:lstStyle/>
          <a:p>
            <a:pPr marL="0" indent="0">
              <a:buNone/>
            </a:pPr>
            <a:r>
              <a:rPr lang="en-US" sz="2400" b="1" dirty="0">
                <a:solidFill>
                  <a:srgbClr val="3B82F6"/>
                </a:solidFill>
                <a:latin typeface="Arial" pitchFamily="34" charset="0"/>
                <a:ea typeface="Arial" pitchFamily="34" charset="-122"/>
                <a:cs typeface="Arial" pitchFamily="34" charset="-120"/>
              </a:rPr>
              <a:t>$0.0012</a:t>
            </a:r>
            <a:endParaRPr lang="en-US" sz="2400" dirty="0"/>
          </a:p>
        </p:txBody>
      </p:sp>
      <p:sp>
        <p:nvSpPr>
          <p:cNvPr id="11" name="Text 9"/>
          <p:cNvSpPr/>
          <p:nvPr/>
        </p:nvSpPr>
        <p:spPr>
          <a:xfrm>
            <a:off x="8641080" y="2743200"/>
            <a:ext cx="2377440" cy="365760"/>
          </a:xfrm>
          <a:prstGeom prst="rect">
            <a:avLst/>
          </a:prstGeom>
          <a:noFill/>
          <a:ln/>
        </p:spPr>
        <p:txBody>
          <a:bodyPr wrap="square" rtlCol="0" anchor="ctr"/>
          <a:lstStyle/>
          <a:p>
            <a:pPr marL="0" indent="0">
              <a:buNone/>
            </a:pPr>
            <a:r>
              <a:rPr lang="en-US" sz="1100" dirty="0">
                <a:solidFill>
                  <a:srgbClr val="AEB9CC"/>
                </a:solidFill>
                <a:latin typeface="Arial" pitchFamily="34" charset="0"/>
                <a:ea typeface="Arial" pitchFamily="34" charset="-122"/>
                <a:cs typeface="Arial" pitchFamily="34" charset="-120"/>
              </a:rPr>
              <a:t>per 1,000 searches (T4)</a:t>
            </a:r>
            <a:endParaRPr lang="en-US" sz="1100" dirty="0"/>
          </a:p>
        </p:txBody>
      </p:sp>
      <p:sp>
        <p:nvSpPr>
          <p:cNvPr id="12" name="Shape 10"/>
          <p:cNvSpPr/>
          <p:nvPr/>
        </p:nvSpPr>
        <p:spPr>
          <a:xfrm>
            <a:off x="822960" y="3502152"/>
            <a:ext cx="82296" cy="82296"/>
          </a:xfrm>
          <a:prstGeom prst="rect">
            <a:avLst/>
          </a:prstGeom>
          <a:solidFill>
            <a:srgbClr val="3B82F6"/>
          </a:solidFill>
          <a:ln/>
        </p:spPr>
      </p:sp>
      <p:sp>
        <p:nvSpPr>
          <p:cNvPr id="13" name="Text 11"/>
          <p:cNvSpPr/>
          <p:nvPr/>
        </p:nvSpPr>
        <p:spPr>
          <a:xfrm>
            <a:off x="1097280" y="3383280"/>
            <a:ext cx="9966960" cy="502920"/>
          </a:xfrm>
          <a:prstGeom prst="rect">
            <a:avLst/>
          </a:prstGeom>
          <a:noFill/>
          <a:ln/>
        </p:spPr>
        <p:txBody>
          <a:bodyPr wrap="square" rtlCol="0" anchor="ctr"/>
          <a:lstStyle/>
          <a:p>
            <a:pPr marL="0" indent="0">
              <a:lnSpc>
                <a:spcPct val="120000"/>
              </a:lnSpc>
              <a:buNone/>
            </a:pPr>
            <a:r>
              <a:rPr lang="en-US" sz="1300" dirty="0">
                <a:solidFill>
                  <a:srgbClr val="DCE3EE"/>
                </a:solidFill>
                <a:latin typeface="Arial" pitchFamily="34" charset="0"/>
                <a:ea typeface="Arial" pitchFamily="34" charset="-122"/>
                <a:cs typeface="Arial" pitchFamily="34" charset="-120"/>
              </a:rPr>
              <a:t>Statistically tied for best accuracy (93.5% vs. 94.0% best-in-class)  a 0.5-point gap that disappears entirely at Top-3 (99.4%)</a:t>
            </a:r>
            <a:endParaRPr lang="en-US" sz="1300" dirty="0"/>
          </a:p>
        </p:txBody>
      </p:sp>
      <p:sp>
        <p:nvSpPr>
          <p:cNvPr id="14" name="Shape 12"/>
          <p:cNvSpPr/>
          <p:nvPr/>
        </p:nvSpPr>
        <p:spPr>
          <a:xfrm>
            <a:off x="822960" y="4123944"/>
            <a:ext cx="82296" cy="82296"/>
          </a:xfrm>
          <a:prstGeom prst="rect">
            <a:avLst/>
          </a:prstGeom>
          <a:solidFill>
            <a:srgbClr val="3B82F6"/>
          </a:solidFill>
          <a:ln/>
        </p:spPr>
      </p:sp>
      <p:sp>
        <p:nvSpPr>
          <p:cNvPr id="15" name="Text 13"/>
          <p:cNvSpPr/>
          <p:nvPr/>
        </p:nvSpPr>
        <p:spPr>
          <a:xfrm>
            <a:off x="1097280" y="4005072"/>
            <a:ext cx="9966960" cy="502920"/>
          </a:xfrm>
          <a:prstGeom prst="rect">
            <a:avLst/>
          </a:prstGeom>
          <a:noFill/>
          <a:ln/>
        </p:spPr>
        <p:txBody>
          <a:bodyPr wrap="square" rtlCol="0" anchor="ctr"/>
          <a:lstStyle/>
          <a:p>
            <a:pPr marL="0" indent="0">
              <a:lnSpc>
                <a:spcPct val="120000"/>
              </a:lnSpc>
              <a:buNone/>
            </a:pPr>
            <a:r>
              <a:rPr lang="en-US" sz="1300" dirty="0">
                <a:solidFill>
                  <a:srgbClr val="DCE3EE"/>
                </a:solidFill>
                <a:latin typeface="Arial" pitchFamily="34" charset="0"/>
                <a:ea typeface="Arial" pitchFamily="34" charset="-122"/>
                <a:cs typeface="Arial" pitchFamily="34" charset="-120"/>
              </a:rPr>
              <a:t>2.7x – 3.4x faster than DINOv2 and SigLIP, at roughly 1/3rd the cost per search</a:t>
            </a:r>
            <a:endParaRPr lang="en-US" sz="1300" dirty="0"/>
          </a:p>
        </p:txBody>
      </p:sp>
      <p:sp>
        <p:nvSpPr>
          <p:cNvPr id="16" name="Shape 14"/>
          <p:cNvSpPr/>
          <p:nvPr/>
        </p:nvSpPr>
        <p:spPr>
          <a:xfrm>
            <a:off x="822960" y="4745736"/>
            <a:ext cx="82296" cy="82296"/>
          </a:xfrm>
          <a:prstGeom prst="rect">
            <a:avLst/>
          </a:prstGeom>
          <a:solidFill>
            <a:srgbClr val="3B82F6"/>
          </a:solidFill>
          <a:ln/>
        </p:spPr>
      </p:sp>
      <p:sp>
        <p:nvSpPr>
          <p:cNvPr id="17" name="Text 15"/>
          <p:cNvSpPr/>
          <p:nvPr/>
        </p:nvSpPr>
        <p:spPr>
          <a:xfrm>
            <a:off x="1097280" y="4626864"/>
            <a:ext cx="9966960" cy="502920"/>
          </a:xfrm>
          <a:prstGeom prst="rect">
            <a:avLst/>
          </a:prstGeom>
          <a:noFill/>
          <a:ln/>
        </p:spPr>
        <p:txBody>
          <a:bodyPr wrap="square" rtlCol="0" anchor="ctr"/>
          <a:lstStyle/>
          <a:p>
            <a:pPr marL="0" indent="0">
              <a:lnSpc>
                <a:spcPct val="120000"/>
              </a:lnSpc>
              <a:buNone/>
            </a:pPr>
            <a:r>
              <a:rPr lang="en-US" sz="1300" dirty="0">
                <a:solidFill>
                  <a:srgbClr val="DCE3EE"/>
                </a:solidFill>
                <a:latin typeface="Arial" pitchFamily="34" charset="0"/>
                <a:ea typeface="Arial" pitchFamily="34" charset="-122"/>
                <a:cs typeface="Arial" pitchFamily="34" charset="-120"/>
              </a:rPr>
              <a:t>Smaller 512-dimension embedding and lower per-image token count keep both storage and inference overhead low as inventory grows</a:t>
            </a:r>
            <a:endParaRPr lang="en-US" sz="1300" dirty="0"/>
          </a:p>
        </p:txBody>
      </p:sp>
      <p:sp>
        <p:nvSpPr>
          <p:cNvPr id="18" name="Shape 16"/>
          <p:cNvSpPr/>
          <p:nvPr/>
        </p:nvSpPr>
        <p:spPr>
          <a:xfrm>
            <a:off x="822960" y="5367528"/>
            <a:ext cx="82296" cy="82296"/>
          </a:xfrm>
          <a:prstGeom prst="rect">
            <a:avLst/>
          </a:prstGeom>
          <a:solidFill>
            <a:srgbClr val="3B82F6"/>
          </a:solidFill>
          <a:ln/>
        </p:spPr>
      </p:sp>
      <p:sp>
        <p:nvSpPr>
          <p:cNvPr id="19" name="Text 17"/>
          <p:cNvSpPr/>
          <p:nvPr/>
        </p:nvSpPr>
        <p:spPr>
          <a:xfrm>
            <a:off x="1097280" y="5248656"/>
            <a:ext cx="9966960" cy="502920"/>
          </a:xfrm>
          <a:prstGeom prst="rect">
            <a:avLst/>
          </a:prstGeom>
          <a:noFill/>
          <a:ln/>
        </p:spPr>
        <p:txBody>
          <a:bodyPr wrap="square" rtlCol="0" anchor="ctr"/>
          <a:lstStyle/>
          <a:p>
            <a:pPr marL="0" indent="0">
              <a:lnSpc>
                <a:spcPct val="120000"/>
              </a:lnSpc>
              <a:buNone/>
            </a:pPr>
            <a:r>
              <a:rPr lang="en-US" sz="1300" dirty="0">
                <a:solidFill>
                  <a:srgbClr val="DCE3EE"/>
                </a:solidFill>
                <a:latin typeface="Arial" pitchFamily="34" charset="0"/>
                <a:ea typeface="Arial" pitchFamily="34" charset="-122"/>
                <a:cs typeface="Arial" pitchFamily="34" charset="-120"/>
              </a:rPr>
              <a:t>As a retrieval model, new inventory items are added with one photo and zero </a:t>
            </a:r>
            <a:r>
              <a:rPr lang="en-US" sz="1300">
                <a:solidFill>
                  <a:srgbClr val="DCE3EE"/>
                </a:solidFill>
                <a:latin typeface="Arial" pitchFamily="34" charset="0"/>
                <a:ea typeface="Arial" pitchFamily="34" charset="-122"/>
                <a:cs typeface="Arial" pitchFamily="34" charset="-120"/>
              </a:rPr>
              <a:t>retraining no </a:t>
            </a:r>
            <a:r>
              <a:rPr lang="en-US" sz="1300" dirty="0">
                <a:solidFill>
                  <a:srgbClr val="DCE3EE"/>
                </a:solidFill>
                <a:latin typeface="Arial" pitchFamily="34" charset="0"/>
                <a:ea typeface="Arial" pitchFamily="34" charset="-122"/>
                <a:cs typeface="Arial" pitchFamily="34" charset="-120"/>
              </a:rPr>
              <a:t>redeployment cycle</a:t>
            </a:r>
            <a:endParaRPr lang="en-US" sz="1300" dirty="0"/>
          </a:p>
        </p:txBody>
      </p:sp>
      <p:sp>
        <p:nvSpPr>
          <p:cNvPr id="20" name="Text 18"/>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Datix AI  |  Visual Search Model Evaluation</a:t>
            </a:r>
            <a:endParaRPr lang="en-US" sz="900" dirty="0"/>
          </a:p>
        </p:txBody>
      </p:sp>
      <p:sp>
        <p:nvSpPr>
          <p:cNvPr id="21" name="Text 19"/>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2B6CB0"/>
                </a:solidFill>
                <a:latin typeface="Arial" pitchFamily="34" charset="0"/>
                <a:ea typeface="Arial" pitchFamily="34" charset="-122"/>
                <a:cs typeface="Arial" pitchFamily="34" charset="-120"/>
              </a:rPr>
              <a:t>DEPLOYMENT PATH</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0A1F44"/>
                </a:solidFill>
                <a:latin typeface="Arial" pitchFamily="34" charset="0"/>
                <a:ea typeface="Arial" pitchFamily="34" charset="-122"/>
                <a:cs typeface="Arial" pitchFamily="34" charset="-120"/>
              </a:rPr>
              <a:t>What this means for the live site</a:t>
            </a:r>
            <a:endParaRPr lang="en-US" sz="3000" dirty="0"/>
          </a:p>
        </p:txBody>
      </p:sp>
      <p:sp>
        <p:nvSpPr>
          <p:cNvPr id="4" name="Shape 2"/>
          <p:cNvSpPr/>
          <p:nvPr/>
        </p:nvSpPr>
        <p:spPr>
          <a:xfrm>
            <a:off x="548640" y="1691640"/>
            <a:ext cx="2084832" cy="2286000"/>
          </a:xfrm>
          <a:prstGeom prst="rect">
            <a:avLst/>
          </a:prstGeom>
          <a:solidFill>
            <a:srgbClr val="F3F4F6"/>
          </a:solidFill>
          <a:ln/>
        </p:spPr>
      </p:sp>
      <p:sp>
        <p:nvSpPr>
          <p:cNvPr id="5" name="Shape 3"/>
          <p:cNvSpPr/>
          <p:nvPr/>
        </p:nvSpPr>
        <p:spPr>
          <a:xfrm>
            <a:off x="713232" y="1874520"/>
            <a:ext cx="457200" cy="457200"/>
          </a:xfrm>
          <a:prstGeom prst="ellipse">
            <a:avLst/>
          </a:prstGeom>
          <a:solidFill>
            <a:srgbClr val="0A1F44"/>
          </a:solidFill>
          <a:ln/>
        </p:spPr>
      </p:sp>
      <p:sp>
        <p:nvSpPr>
          <p:cNvPr id="6" name="Text 4"/>
          <p:cNvSpPr/>
          <p:nvPr/>
        </p:nvSpPr>
        <p:spPr>
          <a:xfrm>
            <a:off x="713232" y="187452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731520" y="2468880"/>
            <a:ext cx="1719072" cy="502920"/>
          </a:xfrm>
          <a:prstGeom prst="rect">
            <a:avLst/>
          </a:prstGeom>
          <a:noFill/>
          <a:ln/>
        </p:spPr>
        <p:txBody>
          <a:bodyPr wrap="square" rtlCol="0" anchor="ctr"/>
          <a:lstStyle/>
          <a:p>
            <a:pPr marL="0" indent="0">
              <a:buNone/>
            </a:pPr>
            <a:r>
              <a:rPr lang="en-US" sz="1250" b="1" dirty="0">
                <a:solidFill>
                  <a:srgbClr val="0A1F44"/>
                </a:solidFill>
                <a:latin typeface="Arial" pitchFamily="34" charset="0"/>
                <a:ea typeface="Arial" pitchFamily="34" charset="-122"/>
                <a:cs typeface="Arial" pitchFamily="34" charset="-120"/>
              </a:rPr>
              <a:t>Photo uploaded</a:t>
            </a:r>
            <a:endParaRPr lang="en-US" sz="1250" dirty="0"/>
          </a:p>
        </p:txBody>
      </p:sp>
      <p:sp>
        <p:nvSpPr>
          <p:cNvPr id="8" name="Text 6"/>
          <p:cNvSpPr/>
          <p:nvPr/>
        </p:nvSpPr>
        <p:spPr>
          <a:xfrm>
            <a:off x="731520" y="2971800"/>
            <a:ext cx="1719072" cy="914400"/>
          </a:xfrm>
          <a:prstGeom prst="rect">
            <a:avLst/>
          </a:prstGeom>
          <a:noFill/>
          <a:ln/>
        </p:spPr>
        <p:txBody>
          <a:bodyPr wrap="square" rtlCol="0" anchor="ctr"/>
          <a:lstStyle/>
          <a:p>
            <a:pPr marL="0" indent="0">
              <a:buNone/>
            </a:pPr>
            <a:r>
              <a:rPr lang="en-US" sz="1000" dirty="0">
                <a:solidFill>
                  <a:srgbClr val="6B7280"/>
                </a:solidFill>
                <a:latin typeface="Arial" pitchFamily="34" charset="0"/>
                <a:ea typeface="Arial" pitchFamily="34" charset="-122"/>
                <a:cs typeface="Arial" pitchFamily="34" charset="-120"/>
              </a:rPr>
              <a:t>Visitor takes a photo on the Zen Cart product page</a:t>
            </a:r>
            <a:endParaRPr lang="en-US" sz="1000" dirty="0"/>
          </a:p>
        </p:txBody>
      </p:sp>
      <p:sp>
        <p:nvSpPr>
          <p:cNvPr id="9" name="Text 7"/>
          <p:cNvSpPr/>
          <p:nvPr/>
        </p:nvSpPr>
        <p:spPr>
          <a:xfrm>
            <a:off x="2587752" y="2606040"/>
            <a:ext cx="274320" cy="365760"/>
          </a:xfrm>
          <a:prstGeom prst="rect">
            <a:avLst/>
          </a:prstGeom>
          <a:noFill/>
          <a:ln/>
        </p:spPr>
        <p:txBody>
          <a:bodyPr wrap="square" rtlCol="0" anchor="ctr"/>
          <a:lstStyle/>
          <a:p>
            <a:pPr marL="0" indent="0" algn="ctr">
              <a:buNone/>
            </a:pPr>
            <a:r>
              <a:rPr lang="en-US" sz="1800" b="1" dirty="0">
                <a:solidFill>
                  <a:srgbClr val="9CA3AF"/>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2761488" y="1691640"/>
            <a:ext cx="2084832" cy="2286000"/>
          </a:xfrm>
          <a:prstGeom prst="rect">
            <a:avLst/>
          </a:prstGeom>
          <a:solidFill>
            <a:srgbClr val="F3F4F6"/>
          </a:solidFill>
          <a:ln/>
        </p:spPr>
      </p:sp>
      <p:sp>
        <p:nvSpPr>
          <p:cNvPr id="11" name="Shape 9"/>
          <p:cNvSpPr/>
          <p:nvPr/>
        </p:nvSpPr>
        <p:spPr>
          <a:xfrm>
            <a:off x="2926080" y="1874520"/>
            <a:ext cx="457200" cy="457200"/>
          </a:xfrm>
          <a:prstGeom prst="ellipse">
            <a:avLst/>
          </a:prstGeom>
          <a:solidFill>
            <a:srgbClr val="0A1F44"/>
          </a:solidFill>
          <a:ln/>
        </p:spPr>
      </p:sp>
      <p:sp>
        <p:nvSpPr>
          <p:cNvPr id="12" name="Text 10"/>
          <p:cNvSpPr/>
          <p:nvPr/>
        </p:nvSpPr>
        <p:spPr>
          <a:xfrm>
            <a:off x="2926080" y="187452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p:nvPr/>
        </p:nvSpPr>
        <p:spPr>
          <a:xfrm>
            <a:off x="2944368" y="2468880"/>
            <a:ext cx="1719072" cy="502920"/>
          </a:xfrm>
          <a:prstGeom prst="rect">
            <a:avLst/>
          </a:prstGeom>
          <a:noFill/>
          <a:ln/>
        </p:spPr>
        <p:txBody>
          <a:bodyPr wrap="square" rtlCol="0" anchor="ctr"/>
          <a:lstStyle/>
          <a:p>
            <a:pPr marL="0" indent="0">
              <a:buNone/>
            </a:pPr>
            <a:r>
              <a:rPr lang="en-US" sz="1250" b="1" dirty="0">
                <a:solidFill>
                  <a:srgbClr val="0A1F44"/>
                </a:solidFill>
                <a:latin typeface="Arial" pitchFamily="34" charset="0"/>
                <a:ea typeface="Arial" pitchFamily="34" charset="-122"/>
                <a:cs typeface="Arial" pitchFamily="34" charset="-120"/>
              </a:rPr>
              <a:t>API call</a:t>
            </a:r>
            <a:endParaRPr lang="en-US" sz="1250" dirty="0"/>
          </a:p>
        </p:txBody>
      </p:sp>
      <p:sp>
        <p:nvSpPr>
          <p:cNvPr id="14" name="Text 12"/>
          <p:cNvSpPr/>
          <p:nvPr/>
        </p:nvSpPr>
        <p:spPr>
          <a:xfrm>
            <a:off x="2944368" y="2971800"/>
            <a:ext cx="1719072" cy="914400"/>
          </a:xfrm>
          <a:prstGeom prst="rect">
            <a:avLst/>
          </a:prstGeom>
          <a:noFill/>
          <a:ln/>
        </p:spPr>
        <p:txBody>
          <a:bodyPr wrap="square" rtlCol="0" anchor="ctr"/>
          <a:lstStyle/>
          <a:p>
            <a:pPr marL="0" indent="0">
              <a:buNone/>
            </a:pPr>
            <a:r>
              <a:rPr lang="en-US" sz="1000" dirty="0">
                <a:solidFill>
                  <a:srgbClr val="6B7280"/>
                </a:solidFill>
                <a:latin typeface="Arial" pitchFamily="34" charset="0"/>
                <a:ea typeface="Arial" pitchFamily="34" charset="-122"/>
                <a:cs typeface="Arial" pitchFamily="34" charset="-120"/>
              </a:rPr>
              <a:t>Photo sent to hosted OpenCLIP model (e.g. Replicate)</a:t>
            </a:r>
            <a:endParaRPr lang="en-US" sz="1000" dirty="0"/>
          </a:p>
        </p:txBody>
      </p:sp>
      <p:sp>
        <p:nvSpPr>
          <p:cNvPr id="15" name="Text 13"/>
          <p:cNvSpPr/>
          <p:nvPr/>
        </p:nvSpPr>
        <p:spPr>
          <a:xfrm>
            <a:off x="4800600" y="2606040"/>
            <a:ext cx="274320" cy="365760"/>
          </a:xfrm>
          <a:prstGeom prst="rect">
            <a:avLst/>
          </a:prstGeom>
          <a:noFill/>
          <a:ln/>
        </p:spPr>
        <p:txBody>
          <a:bodyPr wrap="square" rtlCol="0" anchor="ctr"/>
          <a:lstStyle/>
          <a:p>
            <a:pPr marL="0" indent="0" algn="ctr">
              <a:buNone/>
            </a:pPr>
            <a:r>
              <a:rPr lang="en-US" sz="1800" b="1" dirty="0">
                <a:solidFill>
                  <a:srgbClr val="9CA3AF"/>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4974336" y="1691640"/>
            <a:ext cx="2084832" cy="2286000"/>
          </a:xfrm>
          <a:prstGeom prst="rect">
            <a:avLst/>
          </a:prstGeom>
          <a:solidFill>
            <a:srgbClr val="F3F4F6"/>
          </a:solidFill>
          <a:ln/>
        </p:spPr>
      </p:sp>
      <p:sp>
        <p:nvSpPr>
          <p:cNvPr id="17" name="Shape 15"/>
          <p:cNvSpPr/>
          <p:nvPr/>
        </p:nvSpPr>
        <p:spPr>
          <a:xfrm>
            <a:off x="5138928" y="1874520"/>
            <a:ext cx="457200" cy="457200"/>
          </a:xfrm>
          <a:prstGeom prst="ellipse">
            <a:avLst/>
          </a:prstGeom>
          <a:solidFill>
            <a:srgbClr val="0A1F44"/>
          </a:solidFill>
          <a:ln/>
        </p:spPr>
      </p:sp>
      <p:sp>
        <p:nvSpPr>
          <p:cNvPr id="18" name="Text 16"/>
          <p:cNvSpPr/>
          <p:nvPr/>
        </p:nvSpPr>
        <p:spPr>
          <a:xfrm>
            <a:off x="5138928" y="187452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 17"/>
          <p:cNvSpPr/>
          <p:nvPr/>
        </p:nvSpPr>
        <p:spPr>
          <a:xfrm>
            <a:off x="5157216" y="2468880"/>
            <a:ext cx="1719072" cy="502920"/>
          </a:xfrm>
          <a:prstGeom prst="rect">
            <a:avLst/>
          </a:prstGeom>
          <a:noFill/>
          <a:ln/>
        </p:spPr>
        <p:txBody>
          <a:bodyPr wrap="square" rtlCol="0" anchor="ctr"/>
          <a:lstStyle/>
          <a:p>
            <a:pPr marL="0" indent="0">
              <a:buNone/>
            </a:pPr>
            <a:r>
              <a:rPr lang="en-US" sz="1250" b="1" dirty="0">
                <a:solidFill>
                  <a:srgbClr val="0A1F44"/>
                </a:solidFill>
                <a:latin typeface="Arial" pitchFamily="34" charset="0"/>
                <a:ea typeface="Arial" pitchFamily="34" charset="-122"/>
                <a:cs typeface="Arial" pitchFamily="34" charset="-120"/>
              </a:rPr>
              <a:t>Embedding returned</a:t>
            </a:r>
            <a:endParaRPr lang="en-US" sz="1250" dirty="0"/>
          </a:p>
        </p:txBody>
      </p:sp>
      <p:sp>
        <p:nvSpPr>
          <p:cNvPr id="20" name="Text 18"/>
          <p:cNvSpPr/>
          <p:nvPr/>
        </p:nvSpPr>
        <p:spPr>
          <a:xfrm>
            <a:off x="5157216" y="2971800"/>
            <a:ext cx="1719072" cy="914400"/>
          </a:xfrm>
          <a:prstGeom prst="rect">
            <a:avLst/>
          </a:prstGeom>
          <a:noFill/>
          <a:ln/>
        </p:spPr>
        <p:txBody>
          <a:bodyPr wrap="square" rtlCol="0" anchor="ctr"/>
          <a:lstStyle/>
          <a:p>
            <a:pPr marL="0" indent="0">
              <a:buNone/>
            </a:pPr>
            <a:r>
              <a:rPr lang="en-US" sz="1000" dirty="0">
                <a:solidFill>
                  <a:srgbClr val="6B7280"/>
                </a:solidFill>
                <a:latin typeface="Arial" pitchFamily="34" charset="0"/>
                <a:ea typeface="Arial" pitchFamily="34" charset="-122"/>
                <a:cs typeface="Arial" pitchFamily="34" charset="-120"/>
              </a:rPr>
              <a:t>Model returns a numeric fingerprint of the photo</a:t>
            </a:r>
            <a:endParaRPr lang="en-US" sz="1000" dirty="0"/>
          </a:p>
        </p:txBody>
      </p:sp>
      <p:sp>
        <p:nvSpPr>
          <p:cNvPr id="21" name="Text 19"/>
          <p:cNvSpPr/>
          <p:nvPr/>
        </p:nvSpPr>
        <p:spPr>
          <a:xfrm>
            <a:off x="7013448" y="2606040"/>
            <a:ext cx="274320" cy="365760"/>
          </a:xfrm>
          <a:prstGeom prst="rect">
            <a:avLst/>
          </a:prstGeom>
          <a:noFill/>
          <a:ln/>
        </p:spPr>
        <p:txBody>
          <a:bodyPr wrap="square" rtlCol="0" anchor="ctr"/>
          <a:lstStyle/>
          <a:p>
            <a:pPr marL="0" indent="0" algn="ctr">
              <a:buNone/>
            </a:pPr>
            <a:r>
              <a:rPr lang="en-US" sz="1800" b="1" dirty="0">
                <a:solidFill>
                  <a:srgbClr val="9CA3AF"/>
                </a:solidFill>
                <a:latin typeface="Arial" pitchFamily="34" charset="0"/>
                <a:ea typeface="Arial" pitchFamily="34" charset="-122"/>
                <a:cs typeface="Arial" pitchFamily="34" charset="-120"/>
              </a:rPr>
              <a:t>→</a:t>
            </a:r>
            <a:endParaRPr lang="en-US" sz="1800" dirty="0"/>
          </a:p>
        </p:txBody>
      </p:sp>
      <p:sp>
        <p:nvSpPr>
          <p:cNvPr id="22" name="Shape 20"/>
          <p:cNvSpPr/>
          <p:nvPr/>
        </p:nvSpPr>
        <p:spPr>
          <a:xfrm>
            <a:off x="7187184" y="1691640"/>
            <a:ext cx="2084832" cy="2286000"/>
          </a:xfrm>
          <a:prstGeom prst="rect">
            <a:avLst/>
          </a:prstGeom>
          <a:solidFill>
            <a:srgbClr val="F3F4F6"/>
          </a:solidFill>
          <a:ln/>
        </p:spPr>
      </p:sp>
      <p:sp>
        <p:nvSpPr>
          <p:cNvPr id="23" name="Shape 21"/>
          <p:cNvSpPr/>
          <p:nvPr/>
        </p:nvSpPr>
        <p:spPr>
          <a:xfrm>
            <a:off x="7351776" y="1874520"/>
            <a:ext cx="457200" cy="457200"/>
          </a:xfrm>
          <a:prstGeom prst="ellipse">
            <a:avLst/>
          </a:prstGeom>
          <a:solidFill>
            <a:srgbClr val="0A1F44"/>
          </a:solidFill>
          <a:ln/>
        </p:spPr>
      </p:sp>
      <p:sp>
        <p:nvSpPr>
          <p:cNvPr id="24" name="Text 22"/>
          <p:cNvSpPr/>
          <p:nvPr/>
        </p:nvSpPr>
        <p:spPr>
          <a:xfrm>
            <a:off x="7351776" y="187452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5" name="Text 23"/>
          <p:cNvSpPr/>
          <p:nvPr/>
        </p:nvSpPr>
        <p:spPr>
          <a:xfrm>
            <a:off x="7370064" y="2468880"/>
            <a:ext cx="1719072" cy="502920"/>
          </a:xfrm>
          <a:prstGeom prst="rect">
            <a:avLst/>
          </a:prstGeom>
          <a:noFill/>
          <a:ln/>
        </p:spPr>
        <p:txBody>
          <a:bodyPr wrap="square" rtlCol="0" anchor="ctr"/>
          <a:lstStyle/>
          <a:p>
            <a:pPr marL="0" indent="0">
              <a:buNone/>
            </a:pPr>
            <a:r>
              <a:rPr lang="en-US" sz="1250" b="1" dirty="0">
                <a:solidFill>
                  <a:srgbClr val="0A1F44"/>
                </a:solidFill>
                <a:latin typeface="Arial" pitchFamily="34" charset="0"/>
                <a:ea typeface="Arial" pitchFamily="34" charset="-122"/>
                <a:cs typeface="Arial" pitchFamily="34" charset="-120"/>
              </a:rPr>
              <a:t>Nearest match found</a:t>
            </a:r>
            <a:endParaRPr lang="en-US" sz="1250" dirty="0"/>
          </a:p>
        </p:txBody>
      </p:sp>
      <p:sp>
        <p:nvSpPr>
          <p:cNvPr id="26" name="Text 24"/>
          <p:cNvSpPr/>
          <p:nvPr/>
        </p:nvSpPr>
        <p:spPr>
          <a:xfrm>
            <a:off x="7370064" y="2971800"/>
            <a:ext cx="1719072" cy="914400"/>
          </a:xfrm>
          <a:prstGeom prst="rect">
            <a:avLst/>
          </a:prstGeom>
          <a:noFill/>
          <a:ln/>
        </p:spPr>
        <p:txBody>
          <a:bodyPr wrap="square" rtlCol="0" anchor="ctr"/>
          <a:lstStyle/>
          <a:p>
            <a:pPr marL="0" indent="0">
              <a:buNone/>
            </a:pPr>
            <a:r>
              <a:rPr lang="en-US" sz="1000" dirty="0">
                <a:solidFill>
                  <a:srgbClr val="6B7280"/>
                </a:solidFill>
                <a:latin typeface="Arial" pitchFamily="34" charset="0"/>
                <a:ea typeface="Arial" pitchFamily="34" charset="-122"/>
                <a:cs typeface="Arial" pitchFamily="34" charset="-120"/>
              </a:rPr>
              <a:t>Compared against the stored inventory index — fast, local, free</a:t>
            </a:r>
            <a:endParaRPr lang="en-US" sz="1000" dirty="0"/>
          </a:p>
        </p:txBody>
      </p:sp>
      <p:sp>
        <p:nvSpPr>
          <p:cNvPr id="27" name="Text 25"/>
          <p:cNvSpPr/>
          <p:nvPr/>
        </p:nvSpPr>
        <p:spPr>
          <a:xfrm>
            <a:off x="9226296" y="2606040"/>
            <a:ext cx="274320" cy="365760"/>
          </a:xfrm>
          <a:prstGeom prst="rect">
            <a:avLst/>
          </a:prstGeom>
          <a:noFill/>
          <a:ln/>
        </p:spPr>
        <p:txBody>
          <a:bodyPr wrap="square" rtlCol="0" anchor="ctr"/>
          <a:lstStyle/>
          <a:p>
            <a:pPr marL="0" indent="0" algn="ctr">
              <a:buNone/>
            </a:pPr>
            <a:r>
              <a:rPr lang="en-US" sz="1800" b="1" dirty="0">
                <a:solidFill>
                  <a:srgbClr val="9CA3AF"/>
                </a:solidFill>
                <a:latin typeface="Arial" pitchFamily="34" charset="0"/>
                <a:ea typeface="Arial" pitchFamily="34" charset="-122"/>
                <a:cs typeface="Arial" pitchFamily="34" charset="-120"/>
              </a:rPr>
              <a:t>→</a:t>
            </a:r>
            <a:endParaRPr lang="en-US" sz="1800" dirty="0"/>
          </a:p>
        </p:txBody>
      </p:sp>
      <p:sp>
        <p:nvSpPr>
          <p:cNvPr id="28" name="Shape 26"/>
          <p:cNvSpPr/>
          <p:nvPr/>
        </p:nvSpPr>
        <p:spPr>
          <a:xfrm>
            <a:off x="9400032" y="1691640"/>
            <a:ext cx="2084832" cy="2286000"/>
          </a:xfrm>
          <a:prstGeom prst="rect">
            <a:avLst/>
          </a:prstGeom>
          <a:solidFill>
            <a:srgbClr val="F3F4F6"/>
          </a:solidFill>
          <a:ln/>
        </p:spPr>
      </p:sp>
      <p:sp>
        <p:nvSpPr>
          <p:cNvPr id="29" name="Shape 27"/>
          <p:cNvSpPr/>
          <p:nvPr/>
        </p:nvSpPr>
        <p:spPr>
          <a:xfrm>
            <a:off x="9564624" y="1874520"/>
            <a:ext cx="457200" cy="457200"/>
          </a:xfrm>
          <a:prstGeom prst="ellipse">
            <a:avLst/>
          </a:prstGeom>
          <a:solidFill>
            <a:srgbClr val="0A1F44"/>
          </a:solidFill>
          <a:ln/>
        </p:spPr>
      </p:sp>
      <p:sp>
        <p:nvSpPr>
          <p:cNvPr id="30" name="Text 28"/>
          <p:cNvSpPr/>
          <p:nvPr/>
        </p:nvSpPr>
        <p:spPr>
          <a:xfrm>
            <a:off x="9564624" y="187452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31" name="Text 29"/>
          <p:cNvSpPr/>
          <p:nvPr/>
        </p:nvSpPr>
        <p:spPr>
          <a:xfrm>
            <a:off x="9582912" y="2468880"/>
            <a:ext cx="1719072" cy="502920"/>
          </a:xfrm>
          <a:prstGeom prst="rect">
            <a:avLst/>
          </a:prstGeom>
          <a:noFill/>
          <a:ln/>
        </p:spPr>
        <p:txBody>
          <a:bodyPr wrap="square" rtlCol="0" anchor="ctr"/>
          <a:lstStyle/>
          <a:p>
            <a:pPr marL="0" indent="0">
              <a:buNone/>
            </a:pPr>
            <a:r>
              <a:rPr lang="en-US" sz="1250" b="1" dirty="0">
                <a:solidFill>
                  <a:srgbClr val="0A1F44"/>
                </a:solidFill>
                <a:latin typeface="Arial" pitchFamily="34" charset="0"/>
                <a:ea typeface="Arial" pitchFamily="34" charset="-122"/>
                <a:cs typeface="Arial" pitchFamily="34" charset="-120"/>
              </a:rPr>
              <a:t>Result shown</a:t>
            </a:r>
            <a:endParaRPr lang="en-US" sz="1250" dirty="0"/>
          </a:p>
        </p:txBody>
      </p:sp>
      <p:sp>
        <p:nvSpPr>
          <p:cNvPr id="32" name="Text 30"/>
          <p:cNvSpPr/>
          <p:nvPr/>
        </p:nvSpPr>
        <p:spPr>
          <a:xfrm>
            <a:off x="9582912" y="2971800"/>
            <a:ext cx="1719072" cy="914400"/>
          </a:xfrm>
          <a:prstGeom prst="rect">
            <a:avLst/>
          </a:prstGeom>
          <a:noFill/>
          <a:ln/>
        </p:spPr>
        <p:txBody>
          <a:bodyPr wrap="square" rtlCol="0" anchor="ctr"/>
          <a:lstStyle/>
          <a:p>
            <a:pPr marL="0" indent="0">
              <a:buNone/>
            </a:pPr>
            <a:r>
              <a:rPr lang="en-US" sz="1000" dirty="0">
                <a:solidFill>
                  <a:srgbClr val="6B7280"/>
                </a:solidFill>
                <a:latin typeface="Arial" pitchFamily="34" charset="0"/>
                <a:ea typeface="Arial" pitchFamily="34" charset="-122"/>
                <a:cs typeface="Arial" pitchFamily="34" charset="-120"/>
              </a:rPr>
              <a:t>Redirect to the matched product, or a “top 3” picker if uncertain</a:t>
            </a:r>
            <a:endParaRPr lang="en-US" sz="1000" dirty="0"/>
          </a:p>
        </p:txBody>
      </p:sp>
      <p:sp>
        <p:nvSpPr>
          <p:cNvPr id="33" name="Text 31"/>
          <p:cNvSpPr/>
          <p:nvPr/>
        </p:nvSpPr>
        <p:spPr>
          <a:xfrm>
            <a:off x="548640" y="4297680"/>
            <a:ext cx="5486400" cy="365760"/>
          </a:xfrm>
          <a:prstGeom prst="rect">
            <a:avLst/>
          </a:prstGeom>
          <a:noFill/>
          <a:ln/>
        </p:spPr>
        <p:txBody>
          <a:bodyPr wrap="square" rtlCol="0" anchor="ctr"/>
          <a:lstStyle/>
          <a:p>
            <a:pPr marL="0" indent="0">
              <a:buNone/>
            </a:pPr>
            <a:r>
              <a:rPr lang="en-US" sz="1500" b="1" dirty="0">
                <a:solidFill>
                  <a:srgbClr val="0A1F44"/>
                </a:solidFill>
                <a:latin typeface="Arial" pitchFamily="34" charset="0"/>
                <a:ea typeface="Arial" pitchFamily="34" charset="-122"/>
                <a:cs typeface="Arial" pitchFamily="34" charset="-120"/>
              </a:rPr>
              <a:t>Adding new inventory later</a:t>
            </a:r>
            <a:endParaRPr lang="en-US" sz="1500" dirty="0"/>
          </a:p>
        </p:txBody>
      </p:sp>
      <p:sp>
        <p:nvSpPr>
          <p:cNvPr id="34" name="Text 32"/>
          <p:cNvSpPr/>
          <p:nvPr/>
        </p:nvSpPr>
        <p:spPr>
          <a:xfrm>
            <a:off x="548640" y="4709160"/>
            <a:ext cx="5486400" cy="640080"/>
          </a:xfrm>
          <a:prstGeom prst="rect">
            <a:avLst/>
          </a:prstGeom>
          <a:noFill/>
          <a:ln/>
        </p:spPr>
        <p:txBody>
          <a:bodyPr wrap="square" rtlCol="0" anchor="ctr"/>
          <a:lstStyle/>
          <a:p>
            <a:pPr marL="0" indent="0">
              <a:lnSpc>
                <a:spcPct val="125000"/>
              </a:lnSpc>
              <a:buNone/>
            </a:pPr>
            <a:r>
              <a:rPr lang="en-US" sz="1250" dirty="0">
                <a:solidFill>
                  <a:srgbClr val="374151"/>
                </a:solidFill>
                <a:latin typeface="Arial" pitchFamily="34" charset="0"/>
                <a:ea typeface="Arial" pitchFamily="34" charset="-122"/>
                <a:cs typeface="Arial" pitchFamily="34" charset="-120"/>
              </a:rPr>
              <a:t>Photograph the new item → compute one embedding → append to the index. No retraining, no redeployment, no downtime.</a:t>
            </a:r>
            <a:endParaRPr lang="en-US" sz="1250" dirty="0"/>
          </a:p>
        </p:txBody>
      </p:sp>
      <p:sp>
        <p:nvSpPr>
          <p:cNvPr id="35" name="Text 33"/>
          <p:cNvSpPr/>
          <p:nvPr/>
        </p:nvSpPr>
        <p:spPr>
          <a:xfrm>
            <a:off x="6400800" y="4297680"/>
            <a:ext cx="5212080" cy="365760"/>
          </a:xfrm>
          <a:prstGeom prst="rect">
            <a:avLst/>
          </a:prstGeom>
          <a:noFill/>
          <a:ln/>
        </p:spPr>
        <p:txBody>
          <a:bodyPr wrap="square" rtlCol="0" anchor="ctr"/>
          <a:lstStyle/>
          <a:p>
            <a:pPr marL="0" indent="0">
              <a:buNone/>
            </a:pPr>
            <a:r>
              <a:rPr lang="en-US" sz="1500" b="1" dirty="0">
                <a:solidFill>
                  <a:srgbClr val="0A1F44"/>
                </a:solidFill>
                <a:latin typeface="Arial" pitchFamily="34" charset="0"/>
                <a:ea typeface="Arial" pitchFamily="34" charset="-122"/>
                <a:cs typeface="Arial" pitchFamily="34" charset="-120"/>
              </a:rPr>
              <a:t>Recommended next steps</a:t>
            </a:r>
            <a:endParaRPr lang="en-US" sz="1500" dirty="0"/>
          </a:p>
        </p:txBody>
      </p:sp>
      <p:sp>
        <p:nvSpPr>
          <p:cNvPr id="36" name="Text 34"/>
          <p:cNvSpPr/>
          <p:nvPr/>
        </p:nvSpPr>
        <p:spPr>
          <a:xfrm>
            <a:off x="6400800" y="4709160"/>
            <a:ext cx="5212080" cy="320040"/>
          </a:xfrm>
          <a:prstGeom prst="rect">
            <a:avLst/>
          </a:prstGeom>
          <a:noFill/>
          <a:ln/>
        </p:spPr>
        <p:txBody>
          <a:bodyPr wrap="square" rtlCol="0" anchor="ctr"/>
          <a:lstStyle/>
          <a:p>
            <a:pPr marL="0" indent="0">
              <a:buNone/>
            </a:pPr>
            <a:r>
              <a:rPr lang="en-US" sz="1250" dirty="0">
                <a:solidFill>
                  <a:srgbClr val="374151"/>
                </a:solidFill>
                <a:latin typeface="Arial" pitchFamily="34" charset="0"/>
                <a:ea typeface="Arial" pitchFamily="34" charset="-122"/>
                <a:cs typeface="Arial" pitchFamily="34" charset="-120"/>
              </a:rPr>
              <a:t>•  Deploy OpenCLIP as a hosted API endpoint</a:t>
            </a:r>
            <a:endParaRPr lang="en-US" sz="1250" dirty="0"/>
          </a:p>
        </p:txBody>
      </p:sp>
      <p:sp>
        <p:nvSpPr>
          <p:cNvPr id="37" name="Text 35"/>
          <p:cNvSpPr/>
          <p:nvPr/>
        </p:nvSpPr>
        <p:spPr>
          <a:xfrm>
            <a:off x="6400800" y="5074920"/>
            <a:ext cx="5212080" cy="320040"/>
          </a:xfrm>
          <a:prstGeom prst="rect">
            <a:avLst/>
          </a:prstGeom>
          <a:noFill/>
          <a:ln/>
        </p:spPr>
        <p:txBody>
          <a:bodyPr wrap="square" rtlCol="0" anchor="ctr"/>
          <a:lstStyle/>
          <a:p>
            <a:pPr marL="0" indent="0">
              <a:buNone/>
            </a:pPr>
            <a:r>
              <a:rPr lang="en-US" sz="1250" dirty="0">
                <a:solidFill>
                  <a:srgbClr val="374151"/>
                </a:solidFill>
                <a:latin typeface="Arial" pitchFamily="34" charset="0"/>
                <a:ea typeface="Arial" pitchFamily="34" charset="-122"/>
                <a:cs typeface="Arial" pitchFamily="34" charset="-120"/>
              </a:rPr>
              <a:t>•  Build the visual_search.php page on Zen Cart</a:t>
            </a:r>
            <a:endParaRPr lang="en-US" sz="1250" dirty="0"/>
          </a:p>
        </p:txBody>
      </p:sp>
      <p:sp>
        <p:nvSpPr>
          <p:cNvPr id="38" name="Text 36"/>
          <p:cNvSpPr/>
          <p:nvPr/>
        </p:nvSpPr>
        <p:spPr>
          <a:xfrm>
            <a:off x="6400800" y="5440680"/>
            <a:ext cx="5212080" cy="320040"/>
          </a:xfrm>
          <a:prstGeom prst="rect">
            <a:avLst/>
          </a:prstGeom>
          <a:noFill/>
          <a:ln/>
        </p:spPr>
        <p:txBody>
          <a:bodyPr wrap="square" rtlCol="0" anchor="ctr"/>
          <a:lstStyle/>
          <a:p>
            <a:pPr marL="0" indent="0">
              <a:buNone/>
            </a:pPr>
            <a:r>
              <a:rPr lang="en-US" sz="1250" dirty="0">
                <a:solidFill>
                  <a:srgbClr val="374151"/>
                </a:solidFill>
                <a:latin typeface="Arial" pitchFamily="34" charset="0"/>
                <a:ea typeface="Arial" pitchFamily="34" charset="-122"/>
                <a:cs typeface="Arial" pitchFamily="34" charset="-120"/>
              </a:rPr>
              <a:t>•  Test on real, casual phone photos before launch</a:t>
            </a:r>
            <a:endParaRPr lang="en-US" sz="1250" dirty="0"/>
          </a:p>
        </p:txBody>
      </p:sp>
      <p:sp>
        <p:nvSpPr>
          <p:cNvPr id="39" name="Text 37"/>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Datix AI  |  Visual Search Model Evaluation</a:t>
            </a:r>
            <a:endParaRPr lang="en-US" sz="900" dirty="0"/>
          </a:p>
        </p:txBody>
      </p:sp>
      <p:sp>
        <p:nvSpPr>
          <p:cNvPr id="40" name="Text 38"/>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969</Words>
  <Application>Microsoft Office PowerPoint</Application>
  <PresentationFormat>Widescreen</PresentationFormat>
  <Paragraphs>178</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Raja Ahmed Ali Khan</cp:lastModifiedBy>
  <cp:revision>4</cp:revision>
  <dcterms:created xsi:type="dcterms:W3CDTF">2026-08-23T22:37:23Z</dcterms:created>
  <dcterms:modified xsi:type="dcterms:W3CDTF">2026-08-23T22:52:43Z</dcterms:modified>
</cp:coreProperties>
</file>